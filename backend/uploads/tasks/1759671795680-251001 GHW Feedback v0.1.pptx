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1B2AF-72B3-420D-8C34-1EE49718FA48}" v="41" dt="2025-10-01T13:14:08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D68E-6AFE-D895-30B0-C56B0CE8B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D9474-51AF-F320-2A79-A0FF0DCDB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7070A-325E-3ABC-8C87-2B199F8E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BB9F-E644-4639-9144-990F58F544B7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A9A35-621C-21A9-A208-A4C8ECD94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49FFE-946D-9137-150A-96159C5C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D07E-489C-4192-8ADF-1F601A843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73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26B9-0091-9746-BDB2-B727E050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4253C-7391-06A2-0C1B-C0E5042F1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B7F7F-DEB5-A9CD-2886-C3EA22E9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BB9F-E644-4639-9144-990F58F544B7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188F4-BB83-FA6C-7A77-1C5DC56D6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41B0E-190F-07FF-F837-AE7324B1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D07E-489C-4192-8ADF-1F601A843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637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59FE-D62E-D90B-DF6C-B60FEB563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4D65D-3824-10A9-242E-53089F54C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35112-A915-9030-9703-EF318A4DE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BB9F-E644-4639-9144-990F58F544B7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8DF61-0091-71ED-E67C-5F29CBC7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B4A22-454E-C075-4118-13246C81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D07E-489C-4192-8ADF-1F601A843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23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77FD3-9F2D-854F-212E-0F368B33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4A0AC-3027-64BB-7971-2F2A1FB36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11B49-112E-E7AA-45C9-32F81CB7E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19D48-95A5-23B2-51AE-2C7485B89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BB9F-E644-4639-9144-990F58F544B7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A210E-BC1A-3A7B-D25F-5081FB54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0F0F8-3895-7EE7-A6F6-550F8C011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D07E-489C-4192-8ADF-1F601A843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6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DE779-D761-0D4A-8DD3-0D84BFA0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F46A2-27C1-EF74-241A-7C4E6C99C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D96E0-5F11-39B8-5EA7-BBDFC5E38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11A8B7-6839-5AE9-0E12-6FCF94C8E6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5474DA-5DD4-29B4-25A5-68887B60C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F4DA7-E2AD-6173-BF6C-EE1663E4A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BB9F-E644-4639-9144-990F58F544B7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794FC-7573-BABF-8681-13DDFB10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13031-0917-85D5-3E77-7F596D715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D07E-489C-4192-8ADF-1F601A843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59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A1224-EF28-A9F3-948C-AAB576987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E071C-B428-7FF0-794E-8B90BCD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BB9F-E644-4639-9144-990F58F544B7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551B1-B58A-4010-3CD2-17E9C558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41031-5E60-A827-1ABA-2B1C7862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D07E-489C-4192-8ADF-1F601A843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500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6E98BF-4CB3-7377-8AC8-C389F73F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BB9F-E644-4639-9144-990F58F544B7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97F2A-BFBA-E931-52FA-FC12096E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5C27C-DB94-C247-3FD5-AD70803D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D07E-489C-4192-8ADF-1F601A843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648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CAC5-75CA-4E89-7919-4026B375B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E629B-1E2B-B6AF-B119-2B5CB6C54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9FF62-ABDB-7066-AADE-8F36EF0E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5E3D0-237D-92BC-B704-28162C89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BB9F-E644-4639-9144-990F58F544B7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58992-9BF8-F1AE-CEB2-EFD2E1C1D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2DF3A-FF2E-182F-62D2-A9EFF71BE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D07E-489C-4192-8ADF-1F601A843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61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B4FB-E16B-8987-7770-F2AC5501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D38774-3458-BCF3-07C2-F881A4D5C8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3CFE4-CEE4-B95D-D313-58598BCCA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A4B78-62D6-BCD6-F3DD-2078B638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BB9F-E644-4639-9144-990F58F544B7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63EBD-B2D8-6082-0935-B64E24621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56934-B0FF-134E-3A04-5364F31E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D07E-489C-4192-8ADF-1F601A843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09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09A0-31FD-57D1-8304-575731FC1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25C61C-D903-22C4-D01A-9ACE087F6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28E73-92AA-AB36-68AF-D673DF562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BB9F-E644-4639-9144-990F58F544B7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04A6A-D68A-75FD-2B2C-DFC62E8F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C8CD8-6857-7535-D8D6-1B6B98AE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D07E-489C-4192-8ADF-1F601A843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92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F4C27E-0585-AD30-5A18-AF9D4992D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72049-9769-F734-25B3-2C9B05F34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7C8B6-789F-43E0-F8C6-5C901F7F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BB9F-E644-4639-9144-990F58F544B7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0BFA5-C20B-34EC-574F-D0F3CD555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E159F-1AE4-20C9-47B6-B55DBEB19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D07E-489C-4192-8ADF-1F601A843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79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5279B-A3E2-5ECB-B26F-15B622BD1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D5A7A-A5FA-D94B-7AAD-7D111AEB6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874B4-B967-3792-17C1-70E1B5B467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0BB9F-E644-4639-9144-990F58F544B7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123C6-5B8A-EE08-4DDC-8FBAFFB8C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ACEBF-DA16-8D33-AD5D-845903571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4D07E-489C-4192-8ADF-1F601A843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208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663A6E-4BAD-4F8F-1445-8985988BD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937"/>
            <a:ext cx="12192000" cy="5428125"/>
          </a:xfrm>
          <a:prstGeom prst="rect">
            <a:avLst/>
          </a:prstGeom>
        </p:spPr>
      </p:pic>
      <p:sp>
        <p:nvSpPr>
          <p:cNvPr id="6" name="Free-form: Shape 5">
            <a:extLst>
              <a:ext uri="{FF2B5EF4-FFF2-40B4-BE49-F238E27FC236}">
                <a16:creationId xmlns:a16="http://schemas.microsoft.com/office/drawing/2014/main" id="{17B3030D-A88E-BA2D-CD22-C35D9E5B4CAB}"/>
              </a:ext>
            </a:extLst>
          </p:cNvPr>
          <p:cNvSpPr/>
          <p:nvPr/>
        </p:nvSpPr>
        <p:spPr>
          <a:xfrm>
            <a:off x="597564" y="1875692"/>
            <a:ext cx="10762571" cy="2004646"/>
          </a:xfrm>
          <a:custGeom>
            <a:avLst/>
            <a:gdLst>
              <a:gd name="connsiteX0" fmla="*/ 809205 w 10762571"/>
              <a:gd name="connsiteY0" fmla="*/ 316523 h 2004646"/>
              <a:gd name="connsiteX1" fmla="*/ 738867 w 10762571"/>
              <a:gd name="connsiteY1" fmla="*/ 304800 h 2004646"/>
              <a:gd name="connsiteX2" fmla="*/ 328559 w 10762571"/>
              <a:gd name="connsiteY2" fmla="*/ 351693 h 2004646"/>
              <a:gd name="connsiteX3" fmla="*/ 152713 w 10762571"/>
              <a:gd name="connsiteY3" fmla="*/ 410308 h 2004646"/>
              <a:gd name="connsiteX4" fmla="*/ 82374 w 10762571"/>
              <a:gd name="connsiteY4" fmla="*/ 480646 h 2004646"/>
              <a:gd name="connsiteX5" fmla="*/ 313 w 10762571"/>
              <a:gd name="connsiteY5" fmla="*/ 855785 h 2004646"/>
              <a:gd name="connsiteX6" fmla="*/ 58928 w 10762571"/>
              <a:gd name="connsiteY6" fmla="*/ 1207477 h 2004646"/>
              <a:gd name="connsiteX7" fmla="*/ 434067 w 10762571"/>
              <a:gd name="connsiteY7" fmla="*/ 1617785 h 2004646"/>
              <a:gd name="connsiteX8" fmla="*/ 809205 w 10762571"/>
              <a:gd name="connsiteY8" fmla="*/ 1828800 h 2004646"/>
              <a:gd name="connsiteX9" fmla="*/ 1500867 w 10762571"/>
              <a:gd name="connsiteY9" fmla="*/ 1969477 h 2004646"/>
              <a:gd name="connsiteX10" fmla="*/ 2063574 w 10762571"/>
              <a:gd name="connsiteY10" fmla="*/ 1981200 h 2004646"/>
              <a:gd name="connsiteX11" fmla="*/ 2790405 w 10762571"/>
              <a:gd name="connsiteY11" fmla="*/ 2004646 h 2004646"/>
              <a:gd name="connsiteX12" fmla="*/ 4079944 w 10762571"/>
              <a:gd name="connsiteY12" fmla="*/ 1840523 h 2004646"/>
              <a:gd name="connsiteX13" fmla="*/ 4630928 w 10762571"/>
              <a:gd name="connsiteY13" fmla="*/ 1770185 h 2004646"/>
              <a:gd name="connsiteX14" fmla="*/ 5041236 w 10762571"/>
              <a:gd name="connsiteY14" fmla="*/ 1746739 h 2004646"/>
              <a:gd name="connsiteX15" fmla="*/ 6541790 w 10762571"/>
              <a:gd name="connsiteY15" fmla="*/ 1758462 h 2004646"/>
              <a:gd name="connsiteX16" fmla="*/ 7151390 w 10762571"/>
              <a:gd name="connsiteY16" fmla="*/ 1793631 h 2004646"/>
              <a:gd name="connsiteX17" fmla="*/ 7655482 w 10762571"/>
              <a:gd name="connsiteY17" fmla="*/ 1805354 h 2004646"/>
              <a:gd name="connsiteX18" fmla="*/ 8710559 w 10762571"/>
              <a:gd name="connsiteY18" fmla="*/ 1770185 h 2004646"/>
              <a:gd name="connsiteX19" fmla="*/ 9308436 w 10762571"/>
              <a:gd name="connsiteY19" fmla="*/ 1652954 h 2004646"/>
              <a:gd name="connsiteX20" fmla="*/ 9578067 w 10762571"/>
              <a:gd name="connsiteY20" fmla="*/ 1606062 h 2004646"/>
              <a:gd name="connsiteX21" fmla="*/ 9859421 w 10762571"/>
              <a:gd name="connsiteY21" fmla="*/ 1500554 h 2004646"/>
              <a:gd name="connsiteX22" fmla="*/ 10375236 w 10762571"/>
              <a:gd name="connsiteY22" fmla="*/ 1324708 h 2004646"/>
              <a:gd name="connsiteX23" fmla="*/ 10504190 w 10762571"/>
              <a:gd name="connsiteY23" fmla="*/ 1266093 h 2004646"/>
              <a:gd name="connsiteX24" fmla="*/ 10597974 w 10762571"/>
              <a:gd name="connsiteY24" fmla="*/ 1195754 h 2004646"/>
              <a:gd name="connsiteX25" fmla="*/ 10762098 w 10762571"/>
              <a:gd name="connsiteY25" fmla="*/ 797170 h 2004646"/>
              <a:gd name="connsiteX26" fmla="*/ 10433851 w 10762571"/>
              <a:gd name="connsiteY26" fmla="*/ 363416 h 2004646"/>
              <a:gd name="connsiteX27" fmla="*/ 9624959 w 10762571"/>
              <a:gd name="connsiteY27" fmla="*/ 199293 h 2004646"/>
              <a:gd name="connsiteX28" fmla="*/ 8956744 w 10762571"/>
              <a:gd name="connsiteY28" fmla="*/ 187570 h 2004646"/>
              <a:gd name="connsiteX29" fmla="*/ 7233451 w 10762571"/>
              <a:gd name="connsiteY29" fmla="*/ 164123 h 2004646"/>
              <a:gd name="connsiteX30" fmla="*/ 6213544 w 10762571"/>
              <a:gd name="connsiteY30" fmla="*/ 140677 h 2004646"/>
              <a:gd name="connsiteX31" fmla="*/ 5275698 w 10762571"/>
              <a:gd name="connsiteY31" fmla="*/ 93785 h 2004646"/>
              <a:gd name="connsiteX32" fmla="*/ 4607482 w 10762571"/>
              <a:gd name="connsiteY32" fmla="*/ 35170 h 2004646"/>
              <a:gd name="connsiteX33" fmla="*/ 4079944 w 10762571"/>
              <a:gd name="connsiteY33" fmla="*/ 0 h 2004646"/>
              <a:gd name="connsiteX34" fmla="*/ 3095205 w 10762571"/>
              <a:gd name="connsiteY34" fmla="*/ 23446 h 2004646"/>
              <a:gd name="connsiteX35" fmla="*/ 2755236 w 10762571"/>
              <a:gd name="connsiteY35" fmla="*/ 82062 h 2004646"/>
              <a:gd name="connsiteX36" fmla="*/ 1653267 w 10762571"/>
              <a:gd name="connsiteY36" fmla="*/ 211016 h 2004646"/>
              <a:gd name="connsiteX37" fmla="*/ 1336744 w 10762571"/>
              <a:gd name="connsiteY37" fmla="*/ 281354 h 200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762571" h="2004646">
                <a:moveTo>
                  <a:pt x="809205" y="316523"/>
                </a:moveTo>
                <a:cubicBezTo>
                  <a:pt x="785759" y="312615"/>
                  <a:pt x="762573" y="303065"/>
                  <a:pt x="738867" y="304800"/>
                </a:cubicBezTo>
                <a:cubicBezTo>
                  <a:pt x="601574" y="314846"/>
                  <a:pt x="328559" y="351693"/>
                  <a:pt x="328559" y="351693"/>
                </a:cubicBezTo>
                <a:cubicBezTo>
                  <a:pt x="278006" y="364331"/>
                  <a:pt x="197802" y="379093"/>
                  <a:pt x="152713" y="410308"/>
                </a:cubicBezTo>
                <a:cubicBezTo>
                  <a:pt x="125451" y="429182"/>
                  <a:pt x="105820" y="457200"/>
                  <a:pt x="82374" y="480646"/>
                </a:cubicBezTo>
                <a:cubicBezTo>
                  <a:pt x="47521" y="593919"/>
                  <a:pt x="-4516" y="737480"/>
                  <a:pt x="313" y="855785"/>
                </a:cubicBezTo>
                <a:cubicBezTo>
                  <a:pt x="5160" y="974534"/>
                  <a:pt x="17947" y="1095918"/>
                  <a:pt x="58928" y="1207477"/>
                </a:cubicBezTo>
                <a:cubicBezTo>
                  <a:pt x="115993" y="1362822"/>
                  <a:pt x="304516" y="1531418"/>
                  <a:pt x="434067" y="1617785"/>
                </a:cubicBezTo>
                <a:cubicBezTo>
                  <a:pt x="553442" y="1697368"/>
                  <a:pt x="671047" y="1790116"/>
                  <a:pt x="809205" y="1828800"/>
                </a:cubicBezTo>
                <a:cubicBezTo>
                  <a:pt x="1096944" y="1909367"/>
                  <a:pt x="1180156" y="1946011"/>
                  <a:pt x="1500867" y="1969477"/>
                </a:cubicBezTo>
                <a:cubicBezTo>
                  <a:pt x="1687976" y="1983168"/>
                  <a:pt x="1876034" y="1976085"/>
                  <a:pt x="2063574" y="1981200"/>
                </a:cubicBezTo>
                <a:lnTo>
                  <a:pt x="2790405" y="2004646"/>
                </a:lnTo>
                <a:lnTo>
                  <a:pt x="4079944" y="1840523"/>
                </a:lnTo>
                <a:cubicBezTo>
                  <a:pt x="4263612" y="1817126"/>
                  <a:pt x="4446078" y="1780748"/>
                  <a:pt x="4630928" y="1770185"/>
                </a:cubicBezTo>
                <a:lnTo>
                  <a:pt x="5041236" y="1746739"/>
                </a:lnTo>
                <a:lnTo>
                  <a:pt x="6541790" y="1758462"/>
                </a:lnTo>
                <a:cubicBezTo>
                  <a:pt x="6745278" y="1762984"/>
                  <a:pt x="6948032" y="1785069"/>
                  <a:pt x="7151390" y="1793631"/>
                </a:cubicBezTo>
                <a:cubicBezTo>
                  <a:pt x="7319317" y="1800702"/>
                  <a:pt x="7487451" y="1801446"/>
                  <a:pt x="7655482" y="1805354"/>
                </a:cubicBezTo>
                <a:cubicBezTo>
                  <a:pt x="8007174" y="1793631"/>
                  <a:pt x="8360157" y="1802492"/>
                  <a:pt x="8710559" y="1770185"/>
                </a:cubicBezTo>
                <a:cubicBezTo>
                  <a:pt x="8912789" y="1751540"/>
                  <a:pt x="9108888" y="1690706"/>
                  <a:pt x="9308436" y="1652954"/>
                </a:cubicBezTo>
                <a:cubicBezTo>
                  <a:pt x="9398072" y="1635996"/>
                  <a:pt x="9578067" y="1606062"/>
                  <a:pt x="9578067" y="1606062"/>
                </a:cubicBezTo>
                <a:cubicBezTo>
                  <a:pt x="9671852" y="1570893"/>
                  <a:pt x="9764769" y="1533318"/>
                  <a:pt x="9859421" y="1500554"/>
                </a:cubicBezTo>
                <a:cubicBezTo>
                  <a:pt x="10140602" y="1403222"/>
                  <a:pt x="10144336" y="1418778"/>
                  <a:pt x="10375236" y="1324708"/>
                </a:cubicBezTo>
                <a:cubicBezTo>
                  <a:pt x="10418963" y="1306893"/>
                  <a:pt x="10463327" y="1289750"/>
                  <a:pt x="10504190" y="1266093"/>
                </a:cubicBezTo>
                <a:cubicBezTo>
                  <a:pt x="10538008" y="1246514"/>
                  <a:pt x="10566713" y="1219200"/>
                  <a:pt x="10597974" y="1195754"/>
                </a:cubicBezTo>
                <a:cubicBezTo>
                  <a:pt x="10628585" y="1134532"/>
                  <a:pt x="10771829" y="870151"/>
                  <a:pt x="10762098" y="797170"/>
                </a:cubicBezTo>
                <a:cubicBezTo>
                  <a:pt x="10730297" y="558662"/>
                  <a:pt x="10630682" y="448994"/>
                  <a:pt x="10433851" y="363416"/>
                </a:cubicBezTo>
                <a:cubicBezTo>
                  <a:pt x="10130299" y="231437"/>
                  <a:pt x="9965220" y="217015"/>
                  <a:pt x="9624959" y="199293"/>
                </a:cubicBezTo>
                <a:cubicBezTo>
                  <a:pt x="9402488" y="187706"/>
                  <a:pt x="9179493" y="190846"/>
                  <a:pt x="8956744" y="187570"/>
                </a:cubicBezTo>
                <a:lnTo>
                  <a:pt x="7233451" y="164123"/>
                </a:lnTo>
                <a:lnTo>
                  <a:pt x="6213544" y="140677"/>
                </a:lnTo>
                <a:lnTo>
                  <a:pt x="5275698" y="93785"/>
                </a:lnTo>
                <a:cubicBezTo>
                  <a:pt x="5052585" y="79128"/>
                  <a:pt x="4830391" y="52653"/>
                  <a:pt x="4607482" y="35170"/>
                </a:cubicBezTo>
                <a:cubicBezTo>
                  <a:pt x="4431785" y="21390"/>
                  <a:pt x="4255790" y="11723"/>
                  <a:pt x="4079944" y="0"/>
                </a:cubicBezTo>
                <a:cubicBezTo>
                  <a:pt x="3751698" y="7815"/>
                  <a:pt x="3422916" y="3145"/>
                  <a:pt x="3095205" y="23446"/>
                </a:cubicBezTo>
                <a:cubicBezTo>
                  <a:pt x="2980430" y="30556"/>
                  <a:pt x="2869420" y="68428"/>
                  <a:pt x="2755236" y="82062"/>
                </a:cubicBezTo>
                <a:cubicBezTo>
                  <a:pt x="1792310" y="197039"/>
                  <a:pt x="2898094" y="3547"/>
                  <a:pt x="1653267" y="211016"/>
                </a:cubicBezTo>
                <a:cubicBezTo>
                  <a:pt x="1405684" y="252279"/>
                  <a:pt x="1509901" y="223635"/>
                  <a:pt x="1336744" y="28135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820B32-C674-0907-51DF-978E31A92C0B}"/>
              </a:ext>
            </a:extLst>
          </p:cNvPr>
          <p:cNvSpPr txBox="1"/>
          <p:nvPr/>
        </p:nvSpPr>
        <p:spPr>
          <a:xfrm>
            <a:off x="293078" y="3071446"/>
            <a:ext cx="268458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Replace with </a:t>
            </a:r>
          </a:p>
          <a:p>
            <a:r>
              <a:rPr lang="en-GB" dirty="0"/>
              <a:t>‘The Digital Marketplace for Global Health Solutions’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862519-3B7D-80E3-ED3C-FC3CEC44286C}"/>
              </a:ext>
            </a:extLst>
          </p:cNvPr>
          <p:cNvSpPr/>
          <p:nvPr/>
        </p:nvSpPr>
        <p:spPr>
          <a:xfrm>
            <a:off x="3317631" y="4009292"/>
            <a:ext cx="5756031" cy="42203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1EF965-19E1-6AB1-85AD-C6A89D01D4EB}"/>
              </a:ext>
            </a:extLst>
          </p:cNvPr>
          <p:cNvSpPr txBox="1"/>
          <p:nvPr/>
        </p:nvSpPr>
        <p:spPr>
          <a:xfrm>
            <a:off x="8934553" y="3880338"/>
            <a:ext cx="302314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Replace with </a:t>
            </a:r>
          </a:p>
          <a:p>
            <a:r>
              <a:rPr lang="en-GB" dirty="0"/>
              <a:t>‘Post a task. Solve a task. Together, let’s make global health work.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389267-0792-BECE-27BB-68B03A742D96}"/>
              </a:ext>
            </a:extLst>
          </p:cNvPr>
          <p:cNvSpPr/>
          <p:nvPr/>
        </p:nvSpPr>
        <p:spPr>
          <a:xfrm>
            <a:off x="3108960" y="4560277"/>
            <a:ext cx="5756031" cy="657899"/>
          </a:xfrm>
          <a:prstGeom prst="roundRect">
            <a:avLst/>
          </a:prstGeom>
          <a:solidFill>
            <a:srgbClr val="FF0000">
              <a:alpha val="1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8748CB-FD09-F15A-1AFC-641E9C9D28DE}"/>
              </a:ext>
            </a:extLst>
          </p:cNvPr>
          <p:cNvSpPr txBox="1"/>
          <p:nvPr/>
        </p:nvSpPr>
        <p:spPr>
          <a:xfrm>
            <a:off x="2117663" y="4693806"/>
            <a:ext cx="99129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Remove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888FAE1-D1A2-4649-4287-C86D56B1862C}"/>
              </a:ext>
            </a:extLst>
          </p:cNvPr>
          <p:cNvSpPr/>
          <p:nvPr/>
        </p:nvSpPr>
        <p:spPr>
          <a:xfrm>
            <a:off x="7882129" y="787858"/>
            <a:ext cx="1052424" cy="663860"/>
          </a:xfrm>
          <a:prstGeom prst="roundRect">
            <a:avLst/>
          </a:prstGeom>
          <a:solidFill>
            <a:srgbClr val="FF0000">
              <a:alpha val="1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89FF33-416E-D15B-B75C-4F8ECA74EFEF}"/>
              </a:ext>
            </a:extLst>
          </p:cNvPr>
          <p:cNvSpPr txBox="1"/>
          <p:nvPr/>
        </p:nvSpPr>
        <p:spPr>
          <a:xfrm>
            <a:off x="6842063" y="935122"/>
            <a:ext cx="99129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Remove</a:t>
            </a:r>
          </a:p>
        </p:txBody>
      </p:sp>
    </p:spTree>
    <p:extLst>
      <p:ext uri="{BB962C8B-B14F-4D97-AF65-F5344CB8AC3E}">
        <p14:creationId xmlns:p14="http://schemas.microsoft.com/office/powerpoint/2010/main" val="229163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4DE1A4-7C77-0F2C-CC46-68E697AD2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9398"/>
            <a:ext cx="12192000" cy="35192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AB9579-7D4C-D93F-9DD0-656C56D660A5}"/>
              </a:ext>
            </a:extLst>
          </p:cNvPr>
          <p:cNvSpPr txBox="1"/>
          <p:nvPr/>
        </p:nvSpPr>
        <p:spPr>
          <a:xfrm>
            <a:off x="3450336" y="5188602"/>
            <a:ext cx="3084576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Owners create tasks. Providers apply to work on tasks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19B2C-BF8B-6477-DB58-DB5C2A9B6F86}"/>
              </a:ext>
            </a:extLst>
          </p:cNvPr>
          <p:cNvSpPr txBox="1"/>
          <p:nvPr/>
        </p:nvSpPr>
        <p:spPr>
          <a:xfrm>
            <a:off x="256032" y="5188602"/>
            <a:ext cx="2938272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Choose your role: Post tasks as an Owner or solve tasks as a Provider.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7B6C99-912E-7097-6AFF-3C229010136C}"/>
              </a:ext>
            </a:extLst>
          </p:cNvPr>
          <p:cNvSpPr txBox="1"/>
          <p:nvPr/>
        </p:nvSpPr>
        <p:spPr>
          <a:xfrm>
            <a:off x="6790944" y="5050103"/>
            <a:ext cx="2267712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/>
              <a:t>Smart matching connects the right people to the right tasks.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E1DAB5-FFE8-2F61-75F1-86BBE129326B}"/>
              </a:ext>
            </a:extLst>
          </p:cNvPr>
          <p:cNvSpPr txBox="1"/>
          <p:nvPr/>
        </p:nvSpPr>
        <p:spPr>
          <a:xfrm>
            <a:off x="829056" y="3059667"/>
            <a:ext cx="224332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Join the Community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EA5620-41F7-F3D6-B475-3E31CEA8626C}"/>
              </a:ext>
            </a:extLst>
          </p:cNvPr>
          <p:cNvSpPr/>
          <p:nvPr/>
        </p:nvSpPr>
        <p:spPr>
          <a:xfrm>
            <a:off x="670560" y="4011168"/>
            <a:ext cx="2243328" cy="62179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7CDD3B-F290-BCE7-E6D9-C00FA036B026}"/>
              </a:ext>
            </a:extLst>
          </p:cNvPr>
          <p:cNvSpPr/>
          <p:nvPr/>
        </p:nvSpPr>
        <p:spPr>
          <a:xfrm>
            <a:off x="3584448" y="4011168"/>
            <a:ext cx="2243328" cy="62179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31B8387-B740-9FBB-2D04-01C12F933003}"/>
              </a:ext>
            </a:extLst>
          </p:cNvPr>
          <p:cNvSpPr/>
          <p:nvPr/>
        </p:nvSpPr>
        <p:spPr>
          <a:xfrm>
            <a:off x="6498336" y="4011168"/>
            <a:ext cx="2243328" cy="62179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C967FD0-BE40-CEFB-2E31-ABFBB09BFF51}"/>
              </a:ext>
            </a:extLst>
          </p:cNvPr>
          <p:cNvCxnSpPr/>
          <p:nvPr/>
        </p:nvCxnSpPr>
        <p:spPr>
          <a:xfrm>
            <a:off x="1597152" y="4632960"/>
            <a:ext cx="0" cy="5556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D06834-487A-2D9B-0D67-787C9740DF30}"/>
              </a:ext>
            </a:extLst>
          </p:cNvPr>
          <p:cNvCxnSpPr/>
          <p:nvPr/>
        </p:nvCxnSpPr>
        <p:spPr>
          <a:xfrm>
            <a:off x="5108448" y="4632960"/>
            <a:ext cx="0" cy="5556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86892B-6A90-37C4-33BF-D841EBCF9E00}"/>
              </a:ext>
            </a:extLst>
          </p:cNvPr>
          <p:cNvCxnSpPr/>
          <p:nvPr/>
        </p:nvCxnSpPr>
        <p:spPr>
          <a:xfrm>
            <a:off x="8193024" y="4632960"/>
            <a:ext cx="0" cy="4171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D5F1C0F3-C43F-EF04-52E1-C7C40712D78F}"/>
              </a:ext>
            </a:extLst>
          </p:cNvPr>
          <p:cNvSpPr/>
          <p:nvPr/>
        </p:nvSpPr>
        <p:spPr>
          <a:xfrm>
            <a:off x="1243584" y="3425952"/>
            <a:ext cx="1328928" cy="646176"/>
          </a:xfrm>
          <a:custGeom>
            <a:avLst/>
            <a:gdLst>
              <a:gd name="connsiteX0" fmla="*/ 768096 w 1328928"/>
              <a:gd name="connsiteY0" fmla="*/ 0 h 646176"/>
              <a:gd name="connsiteX1" fmla="*/ 402336 w 1328928"/>
              <a:gd name="connsiteY1" fmla="*/ 243840 h 646176"/>
              <a:gd name="connsiteX2" fmla="*/ 341376 w 1328928"/>
              <a:gd name="connsiteY2" fmla="*/ 231648 h 646176"/>
              <a:gd name="connsiteX3" fmla="*/ 36576 w 1328928"/>
              <a:gd name="connsiteY3" fmla="*/ 243840 h 646176"/>
              <a:gd name="connsiteX4" fmla="*/ 0 w 1328928"/>
              <a:gd name="connsiteY4" fmla="*/ 365760 h 646176"/>
              <a:gd name="connsiteX5" fmla="*/ 316992 w 1328928"/>
              <a:gd name="connsiteY5" fmla="*/ 536448 h 646176"/>
              <a:gd name="connsiteX6" fmla="*/ 548640 w 1328928"/>
              <a:gd name="connsiteY6" fmla="*/ 597408 h 646176"/>
              <a:gd name="connsiteX7" fmla="*/ 707136 w 1328928"/>
              <a:gd name="connsiteY7" fmla="*/ 609600 h 646176"/>
              <a:gd name="connsiteX8" fmla="*/ 804672 w 1328928"/>
              <a:gd name="connsiteY8" fmla="*/ 621792 h 646176"/>
              <a:gd name="connsiteX9" fmla="*/ 950976 w 1328928"/>
              <a:gd name="connsiteY9" fmla="*/ 633984 h 646176"/>
              <a:gd name="connsiteX10" fmla="*/ 1072896 w 1328928"/>
              <a:gd name="connsiteY10" fmla="*/ 646176 h 646176"/>
              <a:gd name="connsiteX11" fmla="*/ 1267968 w 1328928"/>
              <a:gd name="connsiteY11" fmla="*/ 609600 h 646176"/>
              <a:gd name="connsiteX12" fmla="*/ 1328928 w 1328928"/>
              <a:gd name="connsiteY12" fmla="*/ 390144 h 646176"/>
              <a:gd name="connsiteX13" fmla="*/ 1255776 w 1328928"/>
              <a:gd name="connsiteY13" fmla="*/ 365760 h 646176"/>
              <a:gd name="connsiteX14" fmla="*/ 890016 w 1328928"/>
              <a:gd name="connsiteY14" fmla="*/ 207264 h 646176"/>
              <a:gd name="connsiteX15" fmla="*/ 841248 w 1328928"/>
              <a:gd name="connsiteY15" fmla="*/ 195072 h 646176"/>
              <a:gd name="connsiteX16" fmla="*/ 682752 w 1328928"/>
              <a:gd name="connsiteY16" fmla="*/ 195072 h 646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28928" h="646176">
                <a:moveTo>
                  <a:pt x="768096" y="0"/>
                </a:moveTo>
                <a:cubicBezTo>
                  <a:pt x="576392" y="339168"/>
                  <a:pt x="714478" y="300593"/>
                  <a:pt x="402336" y="243840"/>
                </a:cubicBezTo>
                <a:cubicBezTo>
                  <a:pt x="381948" y="240133"/>
                  <a:pt x="361696" y="235712"/>
                  <a:pt x="341376" y="231648"/>
                </a:cubicBezTo>
                <a:cubicBezTo>
                  <a:pt x="239776" y="235712"/>
                  <a:pt x="135003" y="218322"/>
                  <a:pt x="36576" y="243840"/>
                </a:cubicBezTo>
                <a:cubicBezTo>
                  <a:pt x="28641" y="245897"/>
                  <a:pt x="4248" y="348768"/>
                  <a:pt x="0" y="365760"/>
                </a:cubicBezTo>
                <a:cubicBezTo>
                  <a:pt x="100840" y="517020"/>
                  <a:pt x="23499" y="432305"/>
                  <a:pt x="316992" y="536448"/>
                </a:cubicBezTo>
                <a:cubicBezTo>
                  <a:pt x="405693" y="567922"/>
                  <a:pt x="453784" y="585035"/>
                  <a:pt x="548640" y="597408"/>
                </a:cubicBezTo>
                <a:cubicBezTo>
                  <a:pt x="601183" y="604261"/>
                  <a:pt x="654387" y="604576"/>
                  <a:pt x="707136" y="609600"/>
                </a:cubicBezTo>
                <a:cubicBezTo>
                  <a:pt x="739753" y="612706"/>
                  <a:pt x="772070" y="618532"/>
                  <a:pt x="804672" y="621792"/>
                </a:cubicBezTo>
                <a:cubicBezTo>
                  <a:pt x="853366" y="626661"/>
                  <a:pt x="902240" y="629553"/>
                  <a:pt x="950976" y="633984"/>
                </a:cubicBezTo>
                <a:lnTo>
                  <a:pt x="1072896" y="646176"/>
                </a:lnTo>
                <a:cubicBezTo>
                  <a:pt x="1137920" y="633984"/>
                  <a:pt x="1213770" y="647539"/>
                  <a:pt x="1267968" y="609600"/>
                </a:cubicBezTo>
                <a:cubicBezTo>
                  <a:pt x="1307492" y="581933"/>
                  <a:pt x="1321526" y="441957"/>
                  <a:pt x="1328928" y="390144"/>
                </a:cubicBezTo>
                <a:cubicBezTo>
                  <a:pt x="1304544" y="382016"/>
                  <a:pt x="1279502" y="375646"/>
                  <a:pt x="1255776" y="365760"/>
                </a:cubicBezTo>
                <a:cubicBezTo>
                  <a:pt x="1133122" y="314654"/>
                  <a:pt x="1018923" y="239491"/>
                  <a:pt x="890016" y="207264"/>
                </a:cubicBezTo>
                <a:cubicBezTo>
                  <a:pt x="873760" y="203200"/>
                  <a:pt x="857975" y="196056"/>
                  <a:pt x="841248" y="195072"/>
                </a:cubicBezTo>
                <a:cubicBezTo>
                  <a:pt x="788507" y="191970"/>
                  <a:pt x="735584" y="195072"/>
                  <a:pt x="682752" y="19507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89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072B81-D6A0-5F44-F6D6-0613DD994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146"/>
            <a:ext cx="12192000" cy="412170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C0C56D-C045-4084-8F78-8DBAA64A08DB}"/>
              </a:ext>
            </a:extLst>
          </p:cNvPr>
          <p:cNvSpPr/>
          <p:nvPr/>
        </p:nvSpPr>
        <p:spPr>
          <a:xfrm>
            <a:off x="121920" y="1039196"/>
            <a:ext cx="11826240" cy="4934884"/>
          </a:xfrm>
          <a:prstGeom prst="roundRect">
            <a:avLst/>
          </a:prstGeom>
          <a:solidFill>
            <a:srgbClr val="FF0000">
              <a:alpha val="1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43F34-A000-3BE4-CB03-1B244D452206}"/>
              </a:ext>
            </a:extLst>
          </p:cNvPr>
          <p:cNvSpPr txBox="1"/>
          <p:nvPr/>
        </p:nvSpPr>
        <p:spPr>
          <a:xfrm>
            <a:off x="1020383" y="646062"/>
            <a:ext cx="99129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Remove</a:t>
            </a:r>
          </a:p>
        </p:txBody>
      </p:sp>
    </p:spTree>
    <p:extLst>
      <p:ext uri="{BB962C8B-B14F-4D97-AF65-F5344CB8AC3E}">
        <p14:creationId xmlns:p14="http://schemas.microsoft.com/office/powerpoint/2010/main" val="164875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89F6AB-579F-3800-7001-7FDD6C238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8779"/>
            <a:ext cx="12192000" cy="342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23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F3B2F2-E2EE-F94B-00A3-D9ECDBC57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04" y="1719024"/>
            <a:ext cx="9440592" cy="341995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103A194-91CC-4288-C411-AB3EBBE9ECB8}"/>
              </a:ext>
            </a:extLst>
          </p:cNvPr>
          <p:cNvSpPr/>
          <p:nvPr/>
        </p:nvSpPr>
        <p:spPr>
          <a:xfrm>
            <a:off x="1598559" y="3006969"/>
            <a:ext cx="9106017" cy="42203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0365D-00B2-511F-3DB4-E61AC7C05720}"/>
              </a:ext>
            </a:extLst>
          </p:cNvPr>
          <p:cNvSpPr txBox="1"/>
          <p:nvPr/>
        </p:nvSpPr>
        <p:spPr>
          <a:xfrm>
            <a:off x="189291" y="3217984"/>
            <a:ext cx="281853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Replace with </a:t>
            </a:r>
          </a:p>
          <a:p>
            <a:r>
              <a:rPr lang="en-GB" dirty="0"/>
              <a:t>‘Post a task. Solve a task. Together, let’s make global health work.</a:t>
            </a:r>
          </a:p>
        </p:txBody>
      </p:sp>
    </p:spTree>
    <p:extLst>
      <p:ext uri="{BB962C8B-B14F-4D97-AF65-F5344CB8AC3E}">
        <p14:creationId xmlns:p14="http://schemas.microsoft.com/office/powerpoint/2010/main" val="1491905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8CA83A-C37D-FE60-7F5B-8E177A21E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91" y="1147550"/>
            <a:ext cx="11584017" cy="303889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28017D4-5A97-6AB8-D861-F06A0BEB39F6}"/>
              </a:ext>
            </a:extLst>
          </p:cNvPr>
          <p:cNvSpPr/>
          <p:nvPr/>
        </p:nvSpPr>
        <p:spPr>
          <a:xfrm>
            <a:off x="4463143" y="2111829"/>
            <a:ext cx="1632857" cy="2329542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5E036-E0F5-4D42-3BE0-BDF07454A1B0}"/>
              </a:ext>
            </a:extLst>
          </p:cNvPr>
          <p:cNvSpPr txBox="1"/>
          <p:nvPr/>
        </p:nvSpPr>
        <p:spPr>
          <a:xfrm>
            <a:off x="4463143" y="4441371"/>
            <a:ext cx="99129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Remove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56C58E-DDC9-0EA8-FC95-37AFA4F94226}"/>
              </a:ext>
            </a:extLst>
          </p:cNvPr>
          <p:cNvSpPr txBox="1"/>
          <p:nvPr/>
        </p:nvSpPr>
        <p:spPr>
          <a:xfrm>
            <a:off x="761164" y="3429000"/>
            <a:ext cx="268458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Replace with </a:t>
            </a:r>
          </a:p>
          <a:p>
            <a:r>
              <a:rPr lang="en-GB" dirty="0"/>
              <a:t>‘The Digital Marketplace for Global Health Solutions’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049084-2F2F-F027-AB18-AFCE97D48F0C}"/>
              </a:ext>
            </a:extLst>
          </p:cNvPr>
          <p:cNvSpPr/>
          <p:nvPr/>
        </p:nvSpPr>
        <p:spPr>
          <a:xfrm>
            <a:off x="990600" y="2862943"/>
            <a:ext cx="3178629" cy="31568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527897-E86A-EE82-E25D-267D9F52A66A}"/>
              </a:ext>
            </a:extLst>
          </p:cNvPr>
          <p:cNvCxnSpPr/>
          <p:nvPr/>
        </p:nvCxnSpPr>
        <p:spPr>
          <a:xfrm>
            <a:off x="1382486" y="3178629"/>
            <a:ext cx="0" cy="25037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59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FECC29-D8FA-2FB2-27A6-A1397ACA7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4201"/>
            <a:ext cx="12192000" cy="518959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BB51E7-EAEA-5086-5E62-82BC74EDD030}"/>
              </a:ext>
            </a:extLst>
          </p:cNvPr>
          <p:cNvSpPr/>
          <p:nvPr/>
        </p:nvSpPr>
        <p:spPr>
          <a:xfrm>
            <a:off x="3411415" y="1852246"/>
            <a:ext cx="5380893" cy="8557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774D15-B11B-FBFD-4D55-01FB3E906FD2}"/>
              </a:ext>
            </a:extLst>
          </p:cNvPr>
          <p:cNvSpPr txBox="1"/>
          <p:nvPr/>
        </p:nvSpPr>
        <p:spPr>
          <a:xfrm>
            <a:off x="8248826" y="1623094"/>
            <a:ext cx="224332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Join the Community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D1AB31-C879-105F-CFBF-0930D512B0E6}"/>
              </a:ext>
            </a:extLst>
          </p:cNvPr>
          <p:cNvSpPr txBox="1"/>
          <p:nvPr/>
        </p:nvSpPr>
        <p:spPr>
          <a:xfrm>
            <a:off x="7727076" y="4419599"/>
            <a:ext cx="302314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Replace with </a:t>
            </a:r>
          </a:p>
          <a:p>
            <a:r>
              <a:rPr lang="en-GB" dirty="0"/>
              <a:t>‘Work on tasks and showcase your skills’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74771D-6380-AC38-9018-75E56BA8101A}"/>
              </a:ext>
            </a:extLst>
          </p:cNvPr>
          <p:cNvSpPr/>
          <p:nvPr/>
        </p:nvSpPr>
        <p:spPr>
          <a:xfrm>
            <a:off x="6682154" y="3962400"/>
            <a:ext cx="4161692" cy="3693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32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415567-30FA-7BFE-93A5-9B31846E3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063" y="0"/>
            <a:ext cx="9471873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A4EC6D-ADD9-FDC1-10AB-67767ACE6E5C}"/>
              </a:ext>
            </a:extLst>
          </p:cNvPr>
          <p:cNvSpPr/>
          <p:nvPr/>
        </p:nvSpPr>
        <p:spPr>
          <a:xfrm>
            <a:off x="1664677" y="1746738"/>
            <a:ext cx="8663354" cy="10081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74A08-AF8D-9470-B63F-AC031FDDA471}"/>
              </a:ext>
            </a:extLst>
          </p:cNvPr>
          <p:cNvSpPr txBox="1"/>
          <p:nvPr/>
        </p:nvSpPr>
        <p:spPr>
          <a:xfrm>
            <a:off x="422032" y="2866347"/>
            <a:ext cx="10978896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I need two fields for the name, a first name and a surname field, I don’t want a ‘full name’ box to collect them both. I need to be able to address people by their first name or last name, depending on the circumstance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4DC94E-59E6-17CD-A6E2-576CDF50CB9A}"/>
              </a:ext>
            </a:extLst>
          </p:cNvPr>
          <p:cNvSpPr txBox="1"/>
          <p:nvPr/>
        </p:nvSpPr>
        <p:spPr>
          <a:xfrm>
            <a:off x="422032" y="4048419"/>
            <a:ext cx="10306393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I will also need a title field, it can be dropdown, and optional, with the following options; (1) Dr. (2) Prof. (3) Dr. Prof. (4) Mr. (5) Ms. (6) Mrs. (7) Mx. (8) Rev.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5D31A3-1F1D-11B1-3F95-90E112249CDB}"/>
              </a:ext>
            </a:extLst>
          </p:cNvPr>
          <p:cNvSpPr txBox="1"/>
          <p:nvPr/>
        </p:nvSpPr>
        <p:spPr>
          <a:xfrm>
            <a:off x="2184781" y="227965"/>
            <a:ext cx="9216146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800" dirty="0"/>
              <a:t>Do we need to have an Asterix so it’s clear which fields are mandatory and which ones are optional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0EC2A-4E67-2048-0EDB-400FAFB53D74}"/>
              </a:ext>
            </a:extLst>
          </p:cNvPr>
          <p:cNvSpPr txBox="1"/>
          <p:nvPr/>
        </p:nvSpPr>
        <p:spPr>
          <a:xfrm>
            <a:off x="422032" y="5016062"/>
            <a:ext cx="10306393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I will need in brackets next to ‘Organisation Name’,  or the tooltip (text box that appears when you hover over the element) – ‘Task Owners must work in an organization working in global health. Individual personal projects are not permitted’</a:t>
            </a:r>
          </a:p>
        </p:txBody>
      </p:sp>
    </p:spTree>
    <p:extLst>
      <p:ext uri="{BB962C8B-B14F-4D97-AF65-F5344CB8AC3E}">
        <p14:creationId xmlns:p14="http://schemas.microsoft.com/office/powerpoint/2010/main" val="796781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3833E2-3057-F74F-FE0D-90289ADBA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96" y="0"/>
            <a:ext cx="11114407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69DC64-4FDC-5779-8B1E-68E2E748E5B7}"/>
              </a:ext>
            </a:extLst>
          </p:cNvPr>
          <p:cNvSpPr/>
          <p:nvPr/>
        </p:nvSpPr>
        <p:spPr>
          <a:xfrm>
            <a:off x="1875692" y="2633507"/>
            <a:ext cx="8018585" cy="84992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62B23B-93C7-9C26-112E-71EBF8FF4F90}"/>
              </a:ext>
            </a:extLst>
          </p:cNvPr>
          <p:cNvSpPr txBox="1"/>
          <p:nvPr/>
        </p:nvSpPr>
        <p:spPr>
          <a:xfrm>
            <a:off x="942802" y="1762419"/>
            <a:ext cx="10306393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Can the user be allowed to type in their own text when they select ‘prefer to self-describe?’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56847B-75AE-BCA9-1C26-76D35C877FDF}"/>
              </a:ext>
            </a:extLst>
          </p:cNvPr>
          <p:cNvCxnSpPr/>
          <p:nvPr/>
        </p:nvCxnSpPr>
        <p:spPr>
          <a:xfrm>
            <a:off x="4778829" y="2162529"/>
            <a:ext cx="0" cy="439157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28980CC-6F15-3AA4-C545-5E19681E447F}"/>
              </a:ext>
            </a:extLst>
          </p:cNvPr>
          <p:cNvSpPr txBox="1"/>
          <p:nvPr/>
        </p:nvSpPr>
        <p:spPr>
          <a:xfrm>
            <a:off x="8752114" y="4404103"/>
            <a:ext cx="3156857" cy="23083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Strategy &amp; Planning</a:t>
            </a:r>
          </a:p>
          <a:p>
            <a:r>
              <a:rPr lang="en-GB" dirty="0"/>
              <a:t>Research &amp; Analysis</a:t>
            </a:r>
          </a:p>
          <a:p>
            <a:r>
              <a:rPr lang="en-GB" dirty="0"/>
              <a:t>Design &amp; Creative</a:t>
            </a:r>
          </a:p>
          <a:p>
            <a:r>
              <a:rPr lang="en-GB" dirty="0"/>
              <a:t>Technology &amp; Digital Solutions</a:t>
            </a:r>
          </a:p>
          <a:p>
            <a:r>
              <a:rPr lang="en-GB" dirty="0"/>
              <a:t>Communications &amp; Marketing</a:t>
            </a:r>
          </a:p>
          <a:p>
            <a:r>
              <a:rPr lang="en-GB" dirty="0"/>
              <a:t>Training &amp; Capacity Building</a:t>
            </a:r>
          </a:p>
          <a:p>
            <a:r>
              <a:rPr lang="en-GB" dirty="0"/>
              <a:t>Data &amp; Monitoring</a:t>
            </a:r>
          </a:p>
          <a:p>
            <a:r>
              <a:rPr lang="en-GB" dirty="0"/>
              <a:t>Operations &amp; Management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920DBC1-4CA9-5B38-E6F6-F44B6AACAD44}"/>
              </a:ext>
            </a:extLst>
          </p:cNvPr>
          <p:cNvSpPr/>
          <p:nvPr/>
        </p:nvSpPr>
        <p:spPr>
          <a:xfrm>
            <a:off x="2086704" y="4253653"/>
            <a:ext cx="6409642" cy="2092718"/>
          </a:xfrm>
          <a:prstGeom prst="roundRect">
            <a:avLst/>
          </a:prstGeom>
          <a:solidFill>
            <a:srgbClr val="FBE3D6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01AB5D1D-5BC0-CDB8-D8A2-B1938B227CDA}"/>
              </a:ext>
            </a:extLst>
          </p:cNvPr>
          <p:cNvSpPr/>
          <p:nvPr/>
        </p:nvSpPr>
        <p:spPr>
          <a:xfrm>
            <a:off x="6379029" y="6422571"/>
            <a:ext cx="2493206" cy="385678"/>
          </a:xfrm>
          <a:custGeom>
            <a:avLst/>
            <a:gdLst>
              <a:gd name="connsiteX0" fmla="*/ 0 w 2493206"/>
              <a:gd name="connsiteY0" fmla="*/ 0 h 385678"/>
              <a:gd name="connsiteX1" fmla="*/ 76200 w 2493206"/>
              <a:gd name="connsiteY1" fmla="*/ 54429 h 385678"/>
              <a:gd name="connsiteX2" fmla="*/ 239485 w 2493206"/>
              <a:gd name="connsiteY2" fmla="*/ 185058 h 385678"/>
              <a:gd name="connsiteX3" fmla="*/ 435428 w 2493206"/>
              <a:gd name="connsiteY3" fmla="*/ 293915 h 385678"/>
              <a:gd name="connsiteX4" fmla="*/ 892628 w 2493206"/>
              <a:gd name="connsiteY4" fmla="*/ 359229 h 385678"/>
              <a:gd name="connsiteX5" fmla="*/ 1600200 w 2493206"/>
              <a:gd name="connsiteY5" fmla="*/ 315686 h 385678"/>
              <a:gd name="connsiteX6" fmla="*/ 1730828 w 2493206"/>
              <a:gd name="connsiteY6" fmla="*/ 283029 h 385678"/>
              <a:gd name="connsiteX7" fmla="*/ 1828800 w 2493206"/>
              <a:gd name="connsiteY7" fmla="*/ 261258 h 385678"/>
              <a:gd name="connsiteX8" fmla="*/ 1992085 w 2493206"/>
              <a:gd name="connsiteY8" fmla="*/ 206829 h 385678"/>
              <a:gd name="connsiteX9" fmla="*/ 2188028 w 2493206"/>
              <a:gd name="connsiteY9" fmla="*/ 174172 h 385678"/>
              <a:gd name="connsiteX10" fmla="*/ 2296885 w 2493206"/>
              <a:gd name="connsiteY10" fmla="*/ 119743 h 385678"/>
              <a:gd name="connsiteX11" fmla="*/ 2373085 w 2493206"/>
              <a:gd name="connsiteY11" fmla="*/ 97972 h 385678"/>
              <a:gd name="connsiteX12" fmla="*/ 2035628 w 2493206"/>
              <a:gd name="connsiteY12" fmla="*/ 76200 h 385678"/>
              <a:gd name="connsiteX13" fmla="*/ 2307771 w 2493206"/>
              <a:gd name="connsiteY13" fmla="*/ 97972 h 385678"/>
              <a:gd name="connsiteX14" fmla="*/ 2449285 w 2493206"/>
              <a:gd name="connsiteY14" fmla="*/ 141515 h 385678"/>
              <a:gd name="connsiteX15" fmla="*/ 2492828 w 2493206"/>
              <a:gd name="connsiteY15" fmla="*/ 185058 h 385678"/>
              <a:gd name="connsiteX16" fmla="*/ 2438400 w 2493206"/>
              <a:gd name="connsiteY16" fmla="*/ 195943 h 385678"/>
              <a:gd name="connsiteX17" fmla="*/ 2362200 w 2493206"/>
              <a:gd name="connsiteY17" fmla="*/ 206829 h 385678"/>
              <a:gd name="connsiteX18" fmla="*/ 2286000 w 2493206"/>
              <a:gd name="connsiteY18" fmla="*/ 293915 h 385678"/>
              <a:gd name="connsiteX19" fmla="*/ 2275114 w 2493206"/>
              <a:gd name="connsiteY19" fmla="*/ 337458 h 385678"/>
              <a:gd name="connsiteX20" fmla="*/ 2220685 w 2493206"/>
              <a:gd name="connsiteY20" fmla="*/ 381000 h 385678"/>
              <a:gd name="connsiteX21" fmla="*/ 2351314 w 2493206"/>
              <a:gd name="connsiteY21" fmla="*/ 228600 h 385678"/>
              <a:gd name="connsiteX22" fmla="*/ 2373085 w 2493206"/>
              <a:gd name="connsiteY22" fmla="*/ 195943 h 385678"/>
              <a:gd name="connsiteX23" fmla="*/ 2405742 w 2493206"/>
              <a:gd name="connsiteY23" fmla="*/ 76200 h 385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493206" h="385678">
                <a:moveTo>
                  <a:pt x="0" y="0"/>
                </a:moveTo>
                <a:cubicBezTo>
                  <a:pt x="25400" y="18143"/>
                  <a:pt x="51501" y="35343"/>
                  <a:pt x="76200" y="54429"/>
                </a:cubicBezTo>
                <a:cubicBezTo>
                  <a:pt x="131354" y="97049"/>
                  <a:pt x="183208" y="143932"/>
                  <a:pt x="239485" y="185058"/>
                </a:cubicBezTo>
                <a:cubicBezTo>
                  <a:pt x="266134" y="204533"/>
                  <a:pt x="383736" y="284421"/>
                  <a:pt x="435428" y="293915"/>
                </a:cubicBezTo>
                <a:cubicBezTo>
                  <a:pt x="586842" y="321726"/>
                  <a:pt x="892628" y="359229"/>
                  <a:pt x="892628" y="359229"/>
                </a:cubicBezTo>
                <a:cubicBezTo>
                  <a:pt x="1044859" y="352751"/>
                  <a:pt x="1398245" y="349346"/>
                  <a:pt x="1600200" y="315686"/>
                </a:cubicBezTo>
                <a:cubicBezTo>
                  <a:pt x="1644472" y="308307"/>
                  <a:pt x="1687166" y="293425"/>
                  <a:pt x="1730828" y="283029"/>
                </a:cubicBezTo>
                <a:cubicBezTo>
                  <a:pt x="1763372" y="275280"/>
                  <a:pt x="1796684" y="270625"/>
                  <a:pt x="1828800" y="261258"/>
                </a:cubicBezTo>
                <a:cubicBezTo>
                  <a:pt x="1883878" y="245194"/>
                  <a:pt x="1935638" y="217092"/>
                  <a:pt x="1992085" y="206829"/>
                </a:cubicBezTo>
                <a:cubicBezTo>
                  <a:pt x="2137072" y="180468"/>
                  <a:pt x="2071667" y="190795"/>
                  <a:pt x="2188028" y="174172"/>
                </a:cubicBezTo>
                <a:cubicBezTo>
                  <a:pt x="2224314" y="156029"/>
                  <a:pt x="2260050" y="136744"/>
                  <a:pt x="2296885" y="119743"/>
                </a:cubicBezTo>
                <a:cubicBezTo>
                  <a:pt x="2315336" y="111227"/>
                  <a:pt x="2355439" y="102384"/>
                  <a:pt x="2373085" y="97972"/>
                </a:cubicBezTo>
                <a:cubicBezTo>
                  <a:pt x="2340742" y="94378"/>
                  <a:pt x="1955172" y="49381"/>
                  <a:pt x="2035628" y="76200"/>
                </a:cubicBezTo>
                <a:cubicBezTo>
                  <a:pt x="2121962" y="104979"/>
                  <a:pt x="2217057" y="90715"/>
                  <a:pt x="2307771" y="97972"/>
                </a:cubicBezTo>
                <a:cubicBezTo>
                  <a:pt x="2354942" y="112486"/>
                  <a:pt x="2404629" y="120500"/>
                  <a:pt x="2449285" y="141515"/>
                </a:cubicBezTo>
                <a:cubicBezTo>
                  <a:pt x="2467858" y="150255"/>
                  <a:pt x="2496853" y="164930"/>
                  <a:pt x="2492828" y="185058"/>
                </a:cubicBezTo>
                <a:cubicBezTo>
                  <a:pt x="2489200" y="203201"/>
                  <a:pt x="2456650" y="192901"/>
                  <a:pt x="2438400" y="195943"/>
                </a:cubicBezTo>
                <a:cubicBezTo>
                  <a:pt x="2413091" y="200161"/>
                  <a:pt x="2387600" y="203200"/>
                  <a:pt x="2362200" y="206829"/>
                </a:cubicBezTo>
                <a:cubicBezTo>
                  <a:pt x="2292542" y="346142"/>
                  <a:pt x="2406784" y="132869"/>
                  <a:pt x="2286000" y="293915"/>
                </a:cubicBezTo>
                <a:cubicBezTo>
                  <a:pt x="2277023" y="305884"/>
                  <a:pt x="2284091" y="325489"/>
                  <a:pt x="2275114" y="337458"/>
                </a:cubicBezTo>
                <a:cubicBezTo>
                  <a:pt x="2261173" y="356045"/>
                  <a:pt x="2207361" y="400034"/>
                  <a:pt x="2220685" y="381000"/>
                </a:cubicBezTo>
                <a:cubicBezTo>
                  <a:pt x="2259054" y="326187"/>
                  <a:pt x="2308780" y="280248"/>
                  <a:pt x="2351314" y="228600"/>
                </a:cubicBezTo>
                <a:cubicBezTo>
                  <a:pt x="2359631" y="218501"/>
                  <a:pt x="2365828" y="206829"/>
                  <a:pt x="2373085" y="195943"/>
                </a:cubicBezTo>
                <a:cubicBezTo>
                  <a:pt x="2397640" y="97726"/>
                  <a:pt x="2385396" y="137245"/>
                  <a:pt x="2405742" y="762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D4E2A2-582E-1889-46EE-0171695D171A}"/>
              </a:ext>
            </a:extLst>
          </p:cNvPr>
          <p:cNvSpPr txBox="1"/>
          <p:nvPr/>
        </p:nvSpPr>
        <p:spPr>
          <a:xfrm>
            <a:off x="2520614" y="6184416"/>
            <a:ext cx="4249683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Please update the categories</a:t>
            </a:r>
          </a:p>
        </p:txBody>
      </p:sp>
    </p:spTree>
    <p:extLst>
      <p:ext uri="{BB962C8B-B14F-4D97-AF65-F5344CB8AC3E}">
        <p14:creationId xmlns:p14="http://schemas.microsoft.com/office/powerpoint/2010/main" val="1920707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157651-9F57-7DB4-38C2-E4A269AF5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08" y="432969"/>
            <a:ext cx="10088383" cy="599206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04B3CB-E3B3-A4D7-6725-6B00C90279F2}"/>
              </a:ext>
            </a:extLst>
          </p:cNvPr>
          <p:cNvSpPr/>
          <p:nvPr/>
        </p:nvSpPr>
        <p:spPr>
          <a:xfrm>
            <a:off x="1396720" y="619649"/>
            <a:ext cx="2064937" cy="4580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5464FE-C61A-4EE0-6917-CF5E91A5BC44}"/>
              </a:ext>
            </a:extLst>
          </p:cNvPr>
          <p:cNvSpPr txBox="1"/>
          <p:nvPr/>
        </p:nvSpPr>
        <p:spPr>
          <a:xfrm>
            <a:off x="3806569" y="325680"/>
            <a:ext cx="48812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Change to…. Tell us about your areas of interest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EBAEF0-A10E-7AD7-45B5-21BFB29B56E9}"/>
              </a:ext>
            </a:extLst>
          </p:cNvPr>
          <p:cNvCxnSpPr>
            <a:stCxn id="4" idx="1"/>
          </p:cNvCxnSpPr>
          <p:nvPr/>
        </p:nvCxnSpPr>
        <p:spPr>
          <a:xfrm flipH="1">
            <a:off x="3461657" y="510346"/>
            <a:ext cx="344912" cy="1093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966E5F3-E7E2-7603-D322-850576E8F6A4}"/>
              </a:ext>
            </a:extLst>
          </p:cNvPr>
          <p:cNvSpPr txBox="1"/>
          <p:nvPr/>
        </p:nvSpPr>
        <p:spPr>
          <a:xfrm>
            <a:off x="8108709" y="2840822"/>
            <a:ext cx="3156857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Maternal &amp; Child Health Infectious Diseases</a:t>
            </a:r>
          </a:p>
          <a:p>
            <a:r>
              <a:rPr lang="en-GB" dirty="0"/>
              <a:t>Non-Communicable Diseases</a:t>
            </a:r>
          </a:p>
          <a:p>
            <a:r>
              <a:rPr lang="en-GB" dirty="0"/>
              <a:t>Mental Health</a:t>
            </a:r>
          </a:p>
          <a:p>
            <a:r>
              <a:rPr lang="en-GB" dirty="0"/>
              <a:t>Health Systems &amp; Policy</a:t>
            </a:r>
          </a:p>
          <a:p>
            <a:r>
              <a:rPr lang="en-GB" dirty="0"/>
              <a:t>Environmental Health</a:t>
            </a:r>
          </a:p>
          <a:p>
            <a:r>
              <a:rPr lang="en-GB" dirty="0"/>
              <a:t>Community Health</a:t>
            </a:r>
          </a:p>
          <a:p>
            <a:r>
              <a:rPr lang="en-GB" dirty="0"/>
              <a:t>Global Health Security</a:t>
            </a:r>
          </a:p>
          <a:p>
            <a:r>
              <a:rPr lang="en-GB" dirty="0"/>
              <a:t>Other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0B2CA4-133D-9ACB-224C-E17498B904E8}"/>
              </a:ext>
            </a:extLst>
          </p:cNvPr>
          <p:cNvSpPr/>
          <p:nvPr/>
        </p:nvSpPr>
        <p:spPr>
          <a:xfrm>
            <a:off x="1317924" y="1198682"/>
            <a:ext cx="6409642" cy="3573206"/>
          </a:xfrm>
          <a:prstGeom prst="roundRect">
            <a:avLst/>
          </a:prstGeom>
          <a:solidFill>
            <a:srgbClr val="FBE3D6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ED3AEF33-E685-3D8A-5C64-BC69552C75F0}"/>
              </a:ext>
            </a:extLst>
          </p:cNvPr>
          <p:cNvSpPr/>
          <p:nvPr/>
        </p:nvSpPr>
        <p:spPr>
          <a:xfrm>
            <a:off x="5740878" y="4934680"/>
            <a:ext cx="2493206" cy="385678"/>
          </a:xfrm>
          <a:custGeom>
            <a:avLst/>
            <a:gdLst>
              <a:gd name="connsiteX0" fmla="*/ 0 w 2493206"/>
              <a:gd name="connsiteY0" fmla="*/ 0 h 385678"/>
              <a:gd name="connsiteX1" fmla="*/ 76200 w 2493206"/>
              <a:gd name="connsiteY1" fmla="*/ 54429 h 385678"/>
              <a:gd name="connsiteX2" fmla="*/ 239485 w 2493206"/>
              <a:gd name="connsiteY2" fmla="*/ 185058 h 385678"/>
              <a:gd name="connsiteX3" fmla="*/ 435428 w 2493206"/>
              <a:gd name="connsiteY3" fmla="*/ 293915 h 385678"/>
              <a:gd name="connsiteX4" fmla="*/ 892628 w 2493206"/>
              <a:gd name="connsiteY4" fmla="*/ 359229 h 385678"/>
              <a:gd name="connsiteX5" fmla="*/ 1600200 w 2493206"/>
              <a:gd name="connsiteY5" fmla="*/ 315686 h 385678"/>
              <a:gd name="connsiteX6" fmla="*/ 1730828 w 2493206"/>
              <a:gd name="connsiteY6" fmla="*/ 283029 h 385678"/>
              <a:gd name="connsiteX7" fmla="*/ 1828800 w 2493206"/>
              <a:gd name="connsiteY7" fmla="*/ 261258 h 385678"/>
              <a:gd name="connsiteX8" fmla="*/ 1992085 w 2493206"/>
              <a:gd name="connsiteY8" fmla="*/ 206829 h 385678"/>
              <a:gd name="connsiteX9" fmla="*/ 2188028 w 2493206"/>
              <a:gd name="connsiteY9" fmla="*/ 174172 h 385678"/>
              <a:gd name="connsiteX10" fmla="*/ 2296885 w 2493206"/>
              <a:gd name="connsiteY10" fmla="*/ 119743 h 385678"/>
              <a:gd name="connsiteX11" fmla="*/ 2373085 w 2493206"/>
              <a:gd name="connsiteY11" fmla="*/ 97972 h 385678"/>
              <a:gd name="connsiteX12" fmla="*/ 2035628 w 2493206"/>
              <a:gd name="connsiteY12" fmla="*/ 76200 h 385678"/>
              <a:gd name="connsiteX13" fmla="*/ 2307771 w 2493206"/>
              <a:gd name="connsiteY13" fmla="*/ 97972 h 385678"/>
              <a:gd name="connsiteX14" fmla="*/ 2449285 w 2493206"/>
              <a:gd name="connsiteY14" fmla="*/ 141515 h 385678"/>
              <a:gd name="connsiteX15" fmla="*/ 2492828 w 2493206"/>
              <a:gd name="connsiteY15" fmla="*/ 185058 h 385678"/>
              <a:gd name="connsiteX16" fmla="*/ 2438400 w 2493206"/>
              <a:gd name="connsiteY16" fmla="*/ 195943 h 385678"/>
              <a:gd name="connsiteX17" fmla="*/ 2362200 w 2493206"/>
              <a:gd name="connsiteY17" fmla="*/ 206829 h 385678"/>
              <a:gd name="connsiteX18" fmla="*/ 2286000 w 2493206"/>
              <a:gd name="connsiteY18" fmla="*/ 293915 h 385678"/>
              <a:gd name="connsiteX19" fmla="*/ 2275114 w 2493206"/>
              <a:gd name="connsiteY19" fmla="*/ 337458 h 385678"/>
              <a:gd name="connsiteX20" fmla="*/ 2220685 w 2493206"/>
              <a:gd name="connsiteY20" fmla="*/ 381000 h 385678"/>
              <a:gd name="connsiteX21" fmla="*/ 2351314 w 2493206"/>
              <a:gd name="connsiteY21" fmla="*/ 228600 h 385678"/>
              <a:gd name="connsiteX22" fmla="*/ 2373085 w 2493206"/>
              <a:gd name="connsiteY22" fmla="*/ 195943 h 385678"/>
              <a:gd name="connsiteX23" fmla="*/ 2405742 w 2493206"/>
              <a:gd name="connsiteY23" fmla="*/ 76200 h 385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493206" h="385678">
                <a:moveTo>
                  <a:pt x="0" y="0"/>
                </a:moveTo>
                <a:cubicBezTo>
                  <a:pt x="25400" y="18143"/>
                  <a:pt x="51501" y="35343"/>
                  <a:pt x="76200" y="54429"/>
                </a:cubicBezTo>
                <a:cubicBezTo>
                  <a:pt x="131354" y="97049"/>
                  <a:pt x="183208" y="143932"/>
                  <a:pt x="239485" y="185058"/>
                </a:cubicBezTo>
                <a:cubicBezTo>
                  <a:pt x="266134" y="204533"/>
                  <a:pt x="383736" y="284421"/>
                  <a:pt x="435428" y="293915"/>
                </a:cubicBezTo>
                <a:cubicBezTo>
                  <a:pt x="586842" y="321726"/>
                  <a:pt x="892628" y="359229"/>
                  <a:pt x="892628" y="359229"/>
                </a:cubicBezTo>
                <a:cubicBezTo>
                  <a:pt x="1044859" y="352751"/>
                  <a:pt x="1398245" y="349346"/>
                  <a:pt x="1600200" y="315686"/>
                </a:cubicBezTo>
                <a:cubicBezTo>
                  <a:pt x="1644472" y="308307"/>
                  <a:pt x="1687166" y="293425"/>
                  <a:pt x="1730828" y="283029"/>
                </a:cubicBezTo>
                <a:cubicBezTo>
                  <a:pt x="1763372" y="275280"/>
                  <a:pt x="1796684" y="270625"/>
                  <a:pt x="1828800" y="261258"/>
                </a:cubicBezTo>
                <a:cubicBezTo>
                  <a:pt x="1883878" y="245194"/>
                  <a:pt x="1935638" y="217092"/>
                  <a:pt x="1992085" y="206829"/>
                </a:cubicBezTo>
                <a:cubicBezTo>
                  <a:pt x="2137072" y="180468"/>
                  <a:pt x="2071667" y="190795"/>
                  <a:pt x="2188028" y="174172"/>
                </a:cubicBezTo>
                <a:cubicBezTo>
                  <a:pt x="2224314" y="156029"/>
                  <a:pt x="2260050" y="136744"/>
                  <a:pt x="2296885" y="119743"/>
                </a:cubicBezTo>
                <a:cubicBezTo>
                  <a:pt x="2315336" y="111227"/>
                  <a:pt x="2355439" y="102384"/>
                  <a:pt x="2373085" y="97972"/>
                </a:cubicBezTo>
                <a:cubicBezTo>
                  <a:pt x="2340742" y="94378"/>
                  <a:pt x="1955172" y="49381"/>
                  <a:pt x="2035628" y="76200"/>
                </a:cubicBezTo>
                <a:cubicBezTo>
                  <a:pt x="2121962" y="104979"/>
                  <a:pt x="2217057" y="90715"/>
                  <a:pt x="2307771" y="97972"/>
                </a:cubicBezTo>
                <a:cubicBezTo>
                  <a:pt x="2354942" y="112486"/>
                  <a:pt x="2404629" y="120500"/>
                  <a:pt x="2449285" y="141515"/>
                </a:cubicBezTo>
                <a:cubicBezTo>
                  <a:pt x="2467858" y="150255"/>
                  <a:pt x="2496853" y="164930"/>
                  <a:pt x="2492828" y="185058"/>
                </a:cubicBezTo>
                <a:cubicBezTo>
                  <a:pt x="2489200" y="203201"/>
                  <a:pt x="2456650" y="192901"/>
                  <a:pt x="2438400" y="195943"/>
                </a:cubicBezTo>
                <a:cubicBezTo>
                  <a:pt x="2413091" y="200161"/>
                  <a:pt x="2387600" y="203200"/>
                  <a:pt x="2362200" y="206829"/>
                </a:cubicBezTo>
                <a:cubicBezTo>
                  <a:pt x="2292542" y="346142"/>
                  <a:pt x="2406784" y="132869"/>
                  <a:pt x="2286000" y="293915"/>
                </a:cubicBezTo>
                <a:cubicBezTo>
                  <a:pt x="2277023" y="305884"/>
                  <a:pt x="2284091" y="325489"/>
                  <a:pt x="2275114" y="337458"/>
                </a:cubicBezTo>
                <a:cubicBezTo>
                  <a:pt x="2261173" y="356045"/>
                  <a:pt x="2207361" y="400034"/>
                  <a:pt x="2220685" y="381000"/>
                </a:cubicBezTo>
                <a:cubicBezTo>
                  <a:pt x="2259054" y="326187"/>
                  <a:pt x="2308780" y="280248"/>
                  <a:pt x="2351314" y="228600"/>
                </a:cubicBezTo>
                <a:cubicBezTo>
                  <a:pt x="2359631" y="218501"/>
                  <a:pt x="2365828" y="206829"/>
                  <a:pt x="2373085" y="195943"/>
                </a:cubicBezTo>
                <a:cubicBezTo>
                  <a:pt x="2397640" y="97726"/>
                  <a:pt x="2385396" y="137245"/>
                  <a:pt x="2405742" y="762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FE5447-B1C4-33D2-B8B3-D45A29DE6916}"/>
              </a:ext>
            </a:extLst>
          </p:cNvPr>
          <p:cNvSpPr txBox="1"/>
          <p:nvPr/>
        </p:nvSpPr>
        <p:spPr>
          <a:xfrm>
            <a:off x="1882463" y="4696525"/>
            <a:ext cx="4249683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Please update the categories</a:t>
            </a:r>
          </a:p>
        </p:txBody>
      </p:sp>
    </p:spTree>
    <p:extLst>
      <p:ext uri="{BB962C8B-B14F-4D97-AF65-F5344CB8AC3E}">
        <p14:creationId xmlns:p14="http://schemas.microsoft.com/office/powerpoint/2010/main" val="1448614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5CC893-AEAC-1170-AF8F-E42A93A2F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840" y="0"/>
            <a:ext cx="972232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FA7F0A-F9DD-5D6A-19EC-1B5AFB0C0678}"/>
              </a:ext>
            </a:extLst>
          </p:cNvPr>
          <p:cNvSpPr txBox="1"/>
          <p:nvPr/>
        </p:nvSpPr>
        <p:spPr>
          <a:xfrm>
            <a:off x="8055428" y="304800"/>
            <a:ext cx="3584985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I need two fields for the name, a first name and a surname field, I don’t want a ‘full name’ box to collect them both. I need to be able to address people by their first name or last name, depending on the circumstance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919C1-7B8D-40CE-17EC-46B161FAD287}"/>
              </a:ext>
            </a:extLst>
          </p:cNvPr>
          <p:cNvSpPr txBox="1"/>
          <p:nvPr/>
        </p:nvSpPr>
        <p:spPr>
          <a:xfrm>
            <a:off x="3744686" y="3690257"/>
            <a:ext cx="734515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Please change this to a drop down where they can only select one option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962D9-A131-1A9C-A59B-334ACC7D2E30}"/>
              </a:ext>
            </a:extLst>
          </p:cNvPr>
          <p:cNvCxnSpPr/>
          <p:nvPr/>
        </p:nvCxnSpPr>
        <p:spPr>
          <a:xfrm>
            <a:off x="3145971" y="3940629"/>
            <a:ext cx="5987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ECB845D3-EA76-8551-AD06-AE683602E499}"/>
              </a:ext>
            </a:extLst>
          </p:cNvPr>
          <p:cNvSpPr/>
          <p:nvPr/>
        </p:nvSpPr>
        <p:spPr>
          <a:xfrm>
            <a:off x="1436914" y="3657600"/>
            <a:ext cx="8142515" cy="2775857"/>
          </a:xfrm>
          <a:custGeom>
            <a:avLst/>
            <a:gdLst>
              <a:gd name="connsiteX0" fmla="*/ 903515 w 8142515"/>
              <a:gd name="connsiteY0" fmla="*/ 0 h 2775857"/>
              <a:gd name="connsiteX1" fmla="*/ 838200 w 8142515"/>
              <a:gd name="connsiteY1" fmla="*/ 10886 h 2775857"/>
              <a:gd name="connsiteX2" fmla="*/ 685800 w 8142515"/>
              <a:gd name="connsiteY2" fmla="*/ 32657 h 2775857"/>
              <a:gd name="connsiteX3" fmla="*/ 326572 w 8142515"/>
              <a:gd name="connsiteY3" fmla="*/ 163286 h 2775857"/>
              <a:gd name="connsiteX4" fmla="*/ 76200 w 8142515"/>
              <a:gd name="connsiteY4" fmla="*/ 555171 h 2775857"/>
              <a:gd name="connsiteX5" fmla="*/ 0 w 8142515"/>
              <a:gd name="connsiteY5" fmla="*/ 936171 h 2775857"/>
              <a:gd name="connsiteX6" fmla="*/ 65315 w 8142515"/>
              <a:gd name="connsiteY6" fmla="*/ 1426029 h 2775857"/>
              <a:gd name="connsiteX7" fmla="*/ 239486 w 8142515"/>
              <a:gd name="connsiteY7" fmla="*/ 1850571 h 2775857"/>
              <a:gd name="connsiteX8" fmla="*/ 402772 w 8142515"/>
              <a:gd name="connsiteY8" fmla="*/ 2068286 h 2775857"/>
              <a:gd name="connsiteX9" fmla="*/ 544286 w 8142515"/>
              <a:gd name="connsiteY9" fmla="*/ 2220686 h 2775857"/>
              <a:gd name="connsiteX10" fmla="*/ 620486 w 8142515"/>
              <a:gd name="connsiteY10" fmla="*/ 2318657 h 2775857"/>
              <a:gd name="connsiteX11" fmla="*/ 642257 w 8142515"/>
              <a:gd name="connsiteY11" fmla="*/ 2362200 h 2775857"/>
              <a:gd name="connsiteX12" fmla="*/ 707572 w 8142515"/>
              <a:gd name="connsiteY12" fmla="*/ 2416629 h 2775857"/>
              <a:gd name="connsiteX13" fmla="*/ 925286 w 8142515"/>
              <a:gd name="connsiteY13" fmla="*/ 2579914 h 2775857"/>
              <a:gd name="connsiteX14" fmla="*/ 1415143 w 8142515"/>
              <a:gd name="connsiteY14" fmla="*/ 2699657 h 2775857"/>
              <a:gd name="connsiteX15" fmla="*/ 1948543 w 8142515"/>
              <a:gd name="connsiteY15" fmla="*/ 2710543 h 2775857"/>
              <a:gd name="connsiteX16" fmla="*/ 3135086 w 8142515"/>
              <a:gd name="connsiteY16" fmla="*/ 2764971 h 2775857"/>
              <a:gd name="connsiteX17" fmla="*/ 3581400 w 8142515"/>
              <a:gd name="connsiteY17" fmla="*/ 2775857 h 2775857"/>
              <a:gd name="connsiteX18" fmla="*/ 4049486 w 8142515"/>
              <a:gd name="connsiteY18" fmla="*/ 2754086 h 2775857"/>
              <a:gd name="connsiteX19" fmla="*/ 4615543 w 8142515"/>
              <a:gd name="connsiteY19" fmla="*/ 2732314 h 2775857"/>
              <a:gd name="connsiteX20" fmla="*/ 5246915 w 8142515"/>
              <a:gd name="connsiteY20" fmla="*/ 2634343 h 2775857"/>
              <a:gd name="connsiteX21" fmla="*/ 5715000 w 8142515"/>
              <a:gd name="connsiteY21" fmla="*/ 2590800 h 2775857"/>
              <a:gd name="connsiteX22" fmla="*/ 6030686 w 8142515"/>
              <a:gd name="connsiteY22" fmla="*/ 2558143 h 2775857"/>
              <a:gd name="connsiteX23" fmla="*/ 6161315 w 8142515"/>
              <a:gd name="connsiteY23" fmla="*/ 2492829 h 2775857"/>
              <a:gd name="connsiteX24" fmla="*/ 6553200 w 8142515"/>
              <a:gd name="connsiteY24" fmla="*/ 2231571 h 2775857"/>
              <a:gd name="connsiteX25" fmla="*/ 6651172 w 8142515"/>
              <a:gd name="connsiteY25" fmla="*/ 1796143 h 2775857"/>
              <a:gd name="connsiteX26" fmla="*/ 6574972 w 8142515"/>
              <a:gd name="connsiteY26" fmla="*/ 1534886 h 2775857"/>
              <a:gd name="connsiteX27" fmla="*/ 6477000 w 8142515"/>
              <a:gd name="connsiteY27" fmla="*/ 1360714 h 2775857"/>
              <a:gd name="connsiteX28" fmla="*/ 6455229 w 8142515"/>
              <a:gd name="connsiteY28" fmla="*/ 1295400 h 2775857"/>
              <a:gd name="connsiteX29" fmla="*/ 6477000 w 8142515"/>
              <a:gd name="connsiteY29" fmla="*/ 1230086 h 2775857"/>
              <a:gd name="connsiteX30" fmla="*/ 6781800 w 8142515"/>
              <a:gd name="connsiteY30" fmla="*/ 1143000 h 2775857"/>
              <a:gd name="connsiteX31" fmla="*/ 7347857 w 8142515"/>
              <a:gd name="connsiteY31" fmla="*/ 1164771 h 2775857"/>
              <a:gd name="connsiteX32" fmla="*/ 7587343 w 8142515"/>
              <a:gd name="connsiteY32" fmla="*/ 1175657 h 2775857"/>
              <a:gd name="connsiteX33" fmla="*/ 7957457 w 8142515"/>
              <a:gd name="connsiteY33" fmla="*/ 1121229 h 2775857"/>
              <a:gd name="connsiteX34" fmla="*/ 8131629 w 8142515"/>
              <a:gd name="connsiteY34" fmla="*/ 936171 h 2775857"/>
              <a:gd name="connsiteX35" fmla="*/ 8142515 w 8142515"/>
              <a:gd name="connsiteY35" fmla="*/ 783771 h 2775857"/>
              <a:gd name="connsiteX36" fmla="*/ 8022772 w 8142515"/>
              <a:gd name="connsiteY36" fmla="*/ 631371 h 2775857"/>
              <a:gd name="connsiteX37" fmla="*/ 7892143 w 8142515"/>
              <a:gd name="connsiteY37" fmla="*/ 566057 h 2775857"/>
              <a:gd name="connsiteX38" fmla="*/ 7489372 w 8142515"/>
              <a:gd name="connsiteY38" fmla="*/ 522514 h 2775857"/>
              <a:gd name="connsiteX39" fmla="*/ 6803572 w 8142515"/>
              <a:gd name="connsiteY39" fmla="*/ 544286 h 2775857"/>
              <a:gd name="connsiteX40" fmla="*/ 6574972 w 8142515"/>
              <a:gd name="connsiteY40" fmla="*/ 566057 h 2775857"/>
              <a:gd name="connsiteX41" fmla="*/ 5834743 w 8142515"/>
              <a:gd name="connsiteY41" fmla="*/ 576943 h 2775857"/>
              <a:gd name="connsiteX42" fmla="*/ 5410200 w 8142515"/>
              <a:gd name="connsiteY42" fmla="*/ 566057 h 2775857"/>
              <a:gd name="connsiteX43" fmla="*/ 5061857 w 8142515"/>
              <a:gd name="connsiteY43" fmla="*/ 544286 h 2775857"/>
              <a:gd name="connsiteX44" fmla="*/ 2677886 w 8142515"/>
              <a:gd name="connsiteY44" fmla="*/ 533400 h 2775857"/>
              <a:gd name="connsiteX45" fmla="*/ 1807029 w 8142515"/>
              <a:gd name="connsiteY45" fmla="*/ 391886 h 2775857"/>
              <a:gd name="connsiteX46" fmla="*/ 1589315 w 8142515"/>
              <a:gd name="connsiteY46" fmla="*/ 337457 h 2775857"/>
              <a:gd name="connsiteX47" fmla="*/ 1426029 w 8142515"/>
              <a:gd name="connsiteY47" fmla="*/ 304800 h 2775857"/>
              <a:gd name="connsiteX48" fmla="*/ 1219200 w 8142515"/>
              <a:gd name="connsiteY48" fmla="*/ 195943 h 2775857"/>
              <a:gd name="connsiteX49" fmla="*/ 1121229 w 8142515"/>
              <a:gd name="connsiteY49" fmla="*/ 43543 h 2775857"/>
              <a:gd name="connsiteX50" fmla="*/ 1055915 w 8142515"/>
              <a:gd name="connsiteY50" fmla="*/ 32657 h 2775857"/>
              <a:gd name="connsiteX51" fmla="*/ 816429 w 8142515"/>
              <a:gd name="connsiteY51" fmla="*/ 43543 h 2775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142515" h="2775857">
                <a:moveTo>
                  <a:pt x="903515" y="0"/>
                </a:moveTo>
                <a:lnTo>
                  <a:pt x="838200" y="10886"/>
                </a:lnTo>
                <a:cubicBezTo>
                  <a:pt x="787452" y="18498"/>
                  <a:pt x="735584" y="20211"/>
                  <a:pt x="685800" y="32657"/>
                </a:cubicBezTo>
                <a:cubicBezTo>
                  <a:pt x="573990" y="60609"/>
                  <a:pt x="434791" y="119998"/>
                  <a:pt x="326572" y="163286"/>
                </a:cubicBezTo>
                <a:cubicBezTo>
                  <a:pt x="243649" y="273850"/>
                  <a:pt x="119757" y="422081"/>
                  <a:pt x="76200" y="555171"/>
                </a:cubicBezTo>
                <a:cubicBezTo>
                  <a:pt x="35916" y="678262"/>
                  <a:pt x="25400" y="809171"/>
                  <a:pt x="0" y="936171"/>
                </a:cubicBezTo>
                <a:cubicBezTo>
                  <a:pt x="21772" y="1099457"/>
                  <a:pt x="23579" y="1266673"/>
                  <a:pt x="65315" y="1426029"/>
                </a:cubicBezTo>
                <a:cubicBezTo>
                  <a:pt x="104069" y="1573998"/>
                  <a:pt x="168340" y="1715164"/>
                  <a:pt x="239486" y="1850571"/>
                </a:cubicBezTo>
                <a:cubicBezTo>
                  <a:pt x="281680" y="1930875"/>
                  <a:pt x="345104" y="1998261"/>
                  <a:pt x="402772" y="2068286"/>
                </a:cubicBezTo>
                <a:cubicBezTo>
                  <a:pt x="446842" y="2121799"/>
                  <a:pt x="498797" y="2168374"/>
                  <a:pt x="544286" y="2220686"/>
                </a:cubicBezTo>
                <a:cubicBezTo>
                  <a:pt x="571433" y="2251906"/>
                  <a:pt x="596937" y="2284641"/>
                  <a:pt x="620486" y="2318657"/>
                </a:cubicBezTo>
                <a:cubicBezTo>
                  <a:pt x="629723" y="2331999"/>
                  <a:pt x="631476" y="2350071"/>
                  <a:pt x="642257" y="2362200"/>
                </a:cubicBezTo>
                <a:cubicBezTo>
                  <a:pt x="661085" y="2383382"/>
                  <a:pt x="687532" y="2396589"/>
                  <a:pt x="707572" y="2416629"/>
                </a:cubicBezTo>
                <a:cubicBezTo>
                  <a:pt x="793903" y="2502960"/>
                  <a:pt x="757256" y="2529504"/>
                  <a:pt x="925286" y="2579914"/>
                </a:cubicBezTo>
                <a:cubicBezTo>
                  <a:pt x="1077487" y="2625575"/>
                  <a:pt x="1256887" y="2686825"/>
                  <a:pt x="1415143" y="2699657"/>
                </a:cubicBezTo>
                <a:cubicBezTo>
                  <a:pt x="1592398" y="2714029"/>
                  <a:pt x="1770743" y="2706914"/>
                  <a:pt x="1948543" y="2710543"/>
                </a:cubicBezTo>
                <a:lnTo>
                  <a:pt x="3135086" y="2764971"/>
                </a:lnTo>
                <a:lnTo>
                  <a:pt x="3581400" y="2775857"/>
                </a:lnTo>
                <a:lnTo>
                  <a:pt x="4049486" y="2754086"/>
                </a:lnTo>
                <a:cubicBezTo>
                  <a:pt x="4238144" y="2746142"/>
                  <a:pt x="4427655" y="2751103"/>
                  <a:pt x="4615543" y="2732314"/>
                </a:cubicBezTo>
                <a:cubicBezTo>
                  <a:pt x="4827462" y="2711122"/>
                  <a:pt x="5035682" y="2661531"/>
                  <a:pt x="5246915" y="2634343"/>
                </a:cubicBezTo>
                <a:cubicBezTo>
                  <a:pt x="5402335" y="2614339"/>
                  <a:pt x="5559033" y="2605963"/>
                  <a:pt x="5715000" y="2590800"/>
                </a:cubicBezTo>
                <a:lnTo>
                  <a:pt x="6030686" y="2558143"/>
                </a:lnTo>
                <a:cubicBezTo>
                  <a:pt x="6074229" y="2536372"/>
                  <a:pt x="6120032" y="2518631"/>
                  <a:pt x="6161315" y="2492829"/>
                </a:cubicBezTo>
                <a:cubicBezTo>
                  <a:pt x="6294447" y="2409621"/>
                  <a:pt x="6553200" y="2231571"/>
                  <a:pt x="6553200" y="2231571"/>
                </a:cubicBezTo>
                <a:cubicBezTo>
                  <a:pt x="6610459" y="2078881"/>
                  <a:pt x="6665844" y="1972208"/>
                  <a:pt x="6651172" y="1796143"/>
                </a:cubicBezTo>
                <a:cubicBezTo>
                  <a:pt x="6643639" y="1705742"/>
                  <a:pt x="6608662" y="1619112"/>
                  <a:pt x="6574972" y="1534886"/>
                </a:cubicBezTo>
                <a:cubicBezTo>
                  <a:pt x="6550233" y="1473038"/>
                  <a:pt x="6506790" y="1420294"/>
                  <a:pt x="6477000" y="1360714"/>
                </a:cubicBezTo>
                <a:cubicBezTo>
                  <a:pt x="6466737" y="1340188"/>
                  <a:pt x="6462486" y="1317171"/>
                  <a:pt x="6455229" y="1295400"/>
                </a:cubicBezTo>
                <a:cubicBezTo>
                  <a:pt x="6462486" y="1273629"/>
                  <a:pt x="6460083" y="1245593"/>
                  <a:pt x="6477000" y="1230086"/>
                </a:cubicBezTo>
                <a:cubicBezTo>
                  <a:pt x="6551704" y="1161607"/>
                  <a:pt x="6698250" y="1156925"/>
                  <a:pt x="6781800" y="1143000"/>
                </a:cubicBezTo>
                <a:lnTo>
                  <a:pt x="7347857" y="1164771"/>
                </a:lnTo>
                <a:cubicBezTo>
                  <a:pt x="7427703" y="1168008"/>
                  <a:pt x="7507635" y="1181350"/>
                  <a:pt x="7587343" y="1175657"/>
                </a:cubicBezTo>
                <a:cubicBezTo>
                  <a:pt x="7711724" y="1166773"/>
                  <a:pt x="7834086" y="1139372"/>
                  <a:pt x="7957457" y="1121229"/>
                </a:cubicBezTo>
                <a:cubicBezTo>
                  <a:pt x="7967703" y="1111837"/>
                  <a:pt x="8117192" y="993919"/>
                  <a:pt x="8131629" y="936171"/>
                </a:cubicBezTo>
                <a:cubicBezTo>
                  <a:pt x="8143981" y="886762"/>
                  <a:pt x="8138886" y="834571"/>
                  <a:pt x="8142515" y="783771"/>
                </a:cubicBezTo>
                <a:cubicBezTo>
                  <a:pt x="8102601" y="732971"/>
                  <a:pt x="8071523" y="673763"/>
                  <a:pt x="8022772" y="631371"/>
                </a:cubicBezTo>
                <a:cubicBezTo>
                  <a:pt x="7986036" y="599427"/>
                  <a:pt x="7938147" y="581981"/>
                  <a:pt x="7892143" y="566057"/>
                </a:cubicBezTo>
                <a:cubicBezTo>
                  <a:pt x="7760045" y="520331"/>
                  <a:pt x="7627667" y="528527"/>
                  <a:pt x="7489372" y="522514"/>
                </a:cubicBezTo>
                <a:cubicBezTo>
                  <a:pt x="7350446" y="525903"/>
                  <a:pt x="6983761" y="531715"/>
                  <a:pt x="6803572" y="544286"/>
                </a:cubicBezTo>
                <a:cubicBezTo>
                  <a:pt x="6727213" y="549613"/>
                  <a:pt x="6651473" y="563478"/>
                  <a:pt x="6574972" y="566057"/>
                </a:cubicBezTo>
                <a:cubicBezTo>
                  <a:pt x="6328342" y="574370"/>
                  <a:pt x="6081486" y="573314"/>
                  <a:pt x="5834743" y="576943"/>
                </a:cubicBezTo>
                <a:lnTo>
                  <a:pt x="5410200" y="566057"/>
                </a:lnTo>
                <a:cubicBezTo>
                  <a:pt x="5293963" y="561146"/>
                  <a:pt x="5178190" y="545676"/>
                  <a:pt x="5061857" y="544286"/>
                </a:cubicBezTo>
                <a:lnTo>
                  <a:pt x="2677886" y="533400"/>
                </a:lnTo>
                <a:cubicBezTo>
                  <a:pt x="2322660" y="481596"/>
                  <a:pt x="2137627" y="461820"/>
                  <a:pt x="1807029" y="391886"/>
                </a:cubicBezTo>
                <a:cubicBezTo>
                  <a:pt x="1733844" y="376404"/>
                  <a:pt x="1662239" y="354125"/>
                  <a:pt x="1589315" y="337457"/>
                </a:cubicBezTo>
                <a:cubicBezTo>
                  <a:pt x="1535204" y="325089"/>
                  <a:pt x="1480458" y="315686"/>
                  <a:pt x="1426029" y="304800"/>
                </a:cubicBezTo>
                <a:cubicBezTo>
                  <a:pt x="1237753" y="222430"/>
                  <a:pt x="1296667" y="273410"/>
                  <a:pt x="1219200" y="195943"/>
                </a:cubicBezTo>
                <a:cubicBezTo>
                  <a:pt x="1202042" y="153046"/>
                  <a:pt x="1167129" y="51193"/>
                  <a:pt x="1121229" y="43543"/>
                </a:cubicBezTo>
                <a:lnTo>
                  <a:pt x="1055915" y="32657"/>
                </a:lnTo>
                <a:cubicBezTo>
                  <a:pt x="845480" y="44348"/>
                  <a:pt x="925387" y="43543"/>
                  <a:pt x="816429" y="4354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574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9B6A10-E49B-48D3-C463-BF21FFD91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7" y="0"/>
            <a:ext cx="909666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16385E-A0CA-8303-30C5-2FA0D334CC33}"/>
              </a:ext>
            </a:extLst>
          </p:cNvPr>
          <p:cNvSpPr txBox="1"/>
          <p:nvPr/>
        </p:nvSpPr>
        <p:spPr>
          <a:xfrm>
            <a:off x="2640973" y="4538276"/>
            <a:ext cx="10306393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Can the user be allowed to type in their own text when they select ‘prefer to self-describe?’</a:t>
            </a:r>
          </a:p>
        </p:txBody>
      </p:sp>
    </p:spTree>
    <p:extLst>
      <p:ext uri="{BB962C8B-B14F-4D97-AF65-F5344CB8AC3E}">
        <p14:creationId xmlns:p14="http://schemas.microsoft.com/office/powerpoint/2010/main" val="2051249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24BF26-22D4-8BD5-10A4-B18EBFE7E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140" y="0"/>
            <a:ext cx="8543719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C3B7591-E06F-98E8-4E00-BFA497CE1302}"/>
              </a:ext>
            </a:extLst>
          </p:cNvPr>
          <p:cNvSpPr/>
          <p:nvPr/>
        </p:nvSpPr>
        <p:spPr>
          <a:xfrm>
            <a:off x="2456408" y="20098"/>
            <a:ext cx="2064937" cy="4580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D6B83F-AA61-07ED-8FE7-9022703055A4}"/>
              </a:ext>
            </a:extLst>
          </p:cNvPr>
          <p:cNvSpPr txBox="1"/>
          <p:nvPr/>
        </p:nvSpPr>
        <p:spPr>
          <a:xfrm>
            <a:off x="5003998" y="184166"/>
            <a:ext cx="48812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Change to…. Tell us about your areas of interest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E1F19E-449B-47A6-B18F-9A245B1ACA09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flipH="1" flipV="1">
            <a:off x="4521345" y="249117"/>
            <a:ext cx="482653" cy="119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E70F050-D3B5-3C76-F414-4532A9947E0E}"/>
              </a:ext>
            </a:extLst>
          </p:cNvPr>
          <p:cNvSpPr txBox="1"/>
          <p:nvPr/>
        </p:nvSpPr>
        <p:spPr>
          <a:xfrm>
            <a:off x="5665902" y="737664"/>
            <a:ext cx="4881208" cy="286232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Please use updated categories</a:t>
            </a:r>
          </a:p>
          <a:p>
            <a:endParaRPr lang="en-GB" dirty="0"/>
          </a:p>
          <a:p>
            <a:r>
              <a:rPr lang="en-GB" dirty="0"/>
              <a:t>Maternal &amp; Child Health Infectious Diseases</a:t>
            </a:r>
          </a:p>
          <a:p>
            <a:r>
              <a:rPr lang="en-GB" dirty="0"/>
              <a:t>Non-Communicable Diseases</a:t>
            </a:r>
          </a:p>
          <a:p>
            <a:r>
              <a:rPr lang="en-GB" dirty="0"/>
              <a:t>Mental Health</a:t>
            </a:r>
          </a:p>
          <a:p>
            <a:r>
              <a:rPr lang="en-GB" dirty="0"/>
              <a:t>Health Systems &amp; Policy</a:t>
            </a:r>
          </a:p>
          <a:p>
            <a:r>
              <a:rPr lang="en-GB" dirty="0"/>
              <a:t>Environmental Health</a:t>
            </a:r>
          </a:p>
          <a:p>
            <a:r>
              <a:rPr lang="en-GB" dirty="0"/>
              <a:t>Community Health</a:t>
            </a:r>
          </a:p>
          <a:p>
            <a:r>
              <a:rPr lang="en-GB" dirty="0"/>
              <a:t>Global Health Security</a:t>
            </a:r>
          </a:p>
          <a:p>
            <a:r>
              <a:rPr lang="en-GB" dirty="0"/>
              <a:t>Other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A2233-0389-B3EB-61E0-50E6E17D50F2}"/>
              </a:ext>
            </a:extLst>
          </p:cNvPr>
          <p:cNvSpPr txBox="1"/>
          <p:nvPr/>
        </p:nvSpPr>
        <p:spPr>
          <a:xfrm>
            <a:off x="4427056" y="5848585"/>
            <a:ext cx="421487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Change to…. LinkedIn / Portfolio / CV link</a:t>
            </a:r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553FA5E0-F433-A2FF-7397-43AD51CB33E7}"/>
              </a:ext>
            </a:extLst>
          </p:cNvPr>
          <p:cNvSpPr/>
          <p:nvPr/>
        </p:nvSpPr>
        <p:spPr>
          <a:xfrm>
            <a:off x="2589838" y="5780314"/>
            <a:ext cx="1775495" cy="489857"/>
          </a:xfrm>
          <a:custGeom>
            <a:avLst/>
            <a:gdLst>
              <a:gd name="connsiteX0" fmla="*/ 643219 w 1775495"/>
              <a:gd name="connsiteY0" fmla="*/ 87086 h 489857"/>
              <a:gd name="connsiteX1" fmla="*/ 316648 w 1775495"/>
              <a:gd name="connsiteY1" fmla="*/ 141515 h 489857"/>
              <a:gd name="connsiteX2" fmla="*/ 22733 w 1775495"/>
              <a:gd name="connsiteY2" fmla="*/ 163286 h 489857"/>
              <a:gd name="connsiteX3" fmla="*/ 962 w 1775495"/>
              <a:gd name="connsiteY3" fmla="*/ 228600 h 489857"/>
              <a:gd name="connsiteX4" fmla="*/ 77162 w 1775495"/>
              <a:gd name="connsiteY4" fmla="*/ 381000 h 489857"/>
              <a:gd name="connsiteX5" fmla="*/ 175133 w 1775495"/>
              <a:gd name="connsiteY5" fmla="*/ 435429 h 489857"/>
              <a:gd name="connsiteX6" fmla="*/ 447276 w 1775495"/>
              <a:gd name="connsiteY6" fmla="*/ 489857 h 489857"/>
              <a:gd name="connsiteX7" fmla="*/ 828276 w 1775495"/>
              <a:gd name="connsiteY7" fmla="*/ 478972 h 489857"/>
              <a:gd name="connsiteX8" fmla="*/ 1209276 w 1775495"/>
              <a:gd name="connsiteY8" fmla="*/ 424543 h 489857"/>
              <a:gd name="connsiteX9" fmla="*/ 1383448 w 1775495"/>
              <a:gd name="connsiteY9" fmla="*/ 413657 h 489857"/>
              <a:gd name="connsiteX10" fmla="*/ 1666476 w 1775495"/>
              <a:gd name="connsiteY10" fmla="*/ 381000 h 489857"/>
              <a:gd name="connsiteX11" fmla="*/ 1775333 w 1775495"/>
              <a:gd name="connsiteY11" fmla="*/ 250372 h 489857"/>
              <a:gd name="connsiteX12" fmla="*/ 1601162 w 1775495"/>
              <a:gd name="connsiteY12" fmla="*/ 10886 h 489857"/>
              <a:gd name="connsiteX13" fmla="*/ 1546733 w 1775495"/>
              <a:gd name="connsiteY13" fmla="*/ 0 h 489857"/>
              <a:gd name="connsiteX14" fmla="*/ 1318133 w 1775495"/>
              <a:gd name="connsiteY14" fmla="*/ 32657 h 489857"/>
              <a:gd name="connsiteX15" fmla="*/ 1187505 w 1775495"/>
              <a:gd name="connsiteY15" fmla="*/ 87086 h 489857"/>
              <a:gd name="connsiteX16" fmla="*/ 577905 w 1775495"/>
              <a:gd name="connsiteY16" fmla="*/ 87086 h 489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75495" h="489857">
                <a:moveTo>
                  <a:pt x="643219" y="87086"/>
                </a:moveTo>
                <a:cubicBezTo>
                  <a:pt x="337593" y="107462"/>
                  <a:pt x="621587" y="77987"/>
                  <a:pt x="316648" y="141515"/>
                </a:cubicBezTo>
                <a:cubicBezTo>
                  <a:pt x="257389" y="153861"/>
                  <a:pt x="44980" y="162050"/>
                  <a:pt x="22733" y="163286"/>
                </a:cubicBezTo>
                <a:cubicBezTo>
                  <a:pt x="15476" y="185057"/>
                  <a:pt x="-4604" y="206336"/>
                  <a:pt x="962" y="228600"/>
                </a:cubicBezTo>
                <a:cubicBezTo>
                  <a:pt x="14737" y="283700"/>
                  <a:pt x="40578" y="337556"/>
                  <a:pt x="77162" y="381000"/>
                </a:cubicBezTo>
                <a:cubicBezTo>
                  <a:pt x="101226" y="409576"/>
                  <a:pt x="140795" y="420713"/>
                  <a:pt x="175133" y="435429"/>
                </a:cubicBezTo>
                <a:cubicBezTo>
                  <a:pt x="303110" y="490277"/>
                  <a:pt x="308996" y="479221"/>
                  <a:pt x="447276" y="489857"/>
                </a:cubicBezTo>
                <a:cubicBezTo>
                  <a:pt x="574276" y="486229"/>
                  <a:pt x="701420" y="486020"/>
                  <a:pt x="828276" y="478972"/>
                </a:cubicBezTo>
                <a:cubicBezTo>
                  <a:pt x="1159679" y="460561"/>
                  <a:pt x="910877" y="461843"/>
                  <a:pt x="1209276" y="424543"/>
                </a:cubicBezTo>
                <a:cubicBezTo>
                  <a:pt x="1266997" y="417328"/>
                  <a:pt x="1325425" y="417801"/>
                  <a:pt x="1383448" y="413657"/>
                </a:cubicBezTo>
                <a:cubicBezTo>
                  <a:pt x="1534932" y="402837"/>
                  <a:pt x="1506387" y="403870"/>
                  <a:pt x="1666476" y="381000"/>
                </a:cubicBezTo>
                <a:cubicBezTo>
                  <a:pt x="1704674" y="352352"/>
                  <a:pt x="1779444" y="303822"/>
                  <a:pt x="1775333" y="250372"/>
                </a:cubicBezTo>
                <a:cubicBezTo>
                  <a:pt x="1765608" y="123943"/>
                  <a:pt x="1699897" y="56456"/>
                  <a:pt x="1601162" y="10886"/>
                </a:cubicBezTo>
                <a:cubicBezTo>
                  <a:pt x="1584363" y="3132"/>
                  <a:pt x="1564876" y="3629"/>
                  <a:pt x="1546733" y="0"/>
                </a:cubicBezTo>
                <a:cubicBezTo>
                  <a:pt x="1470533" y="10886"/>
                  <a:pt x="1392940" y="14522"/>
                  <a:pt x="1318133" y="32657"/>
                </a:cubicBezTo>
                <a:cubicBezTo>
                  <a:pt x="1272290" y="43771"/>
                  <a:pt x="1234549" y="83627"/>
                  <a:pt x="1187505" y="87086"/>
                </a:cubicBezTo>
                <a:cubicBezTo>
                  <a:pt x="984852" y="101987"/>
                  <a:pt x="781105" y="87086"/>
                  <a:pt x="577905" y="8708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706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2CBC74-EC9A-16DB-4189-DA16894E2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8202"/>
            <a:ext cx="12192000" cy="360159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0D6FC0-5AB5-606F-67F9-2DD26F518770}"/>
              </a:ext>
            </a:extLst>
          </p:cNvPr>
          <p:cNvSpPr/>
          <p:nvPr/>
        </p:nvSpPr>
        <p:spPr>
          <a:xfrm>
            <a:off x="10776857" y="1480457"/>
            <a:ext cx="1328057" cy="6858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689BA-C1C2-4020-1A2B-42D775926E9F}"/>
              </a:ext>
            </a:extLst>
          </p:cNvPr>
          <p:cNvSpPr txBox="1"/>
          <p:nvPr/>
        </p:nvSpPr>
        <p:spPr>
          <a:xfrm>
            <a:off x="7572202" y="1228092"/>
            <a:ext cx="3346170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Change to… ‘Task Owner’</a:t>
            </a:r>
          </a:p>
        </p:txBody>
      </p:sp>
    </p:spTree>
    <p:extLst>
      <p:ext uri="{BB962C8B-B14F-4D97-AF65-F5344CB8AC3E}">
        <p14:creationId xmlns:p14="http://schemas.microsoft.com/office/powerpoint/2010/main" val="4201885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8F6D5F-07DA-1BFC-DCBE-4163D387F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60" y="388035"/>
            <a:ext cx="5930453" cy="578476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601278-47FA-3C81-95E2-455788ABBDA4}"/>
              </a:ext>
            </a:extLst>
          </p:cNvPr>
          <p:cNvSpPr/>
          <p:nvPr/>
        </p:nvSpPr>
        <p:spPr>
          <a:xfrm>
            <a:off x="566057" y="3298371"/>
            <a:ext cx="5529943" cy="115388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7780F-3401-2E98-4CA3-31DF2A19A000}"/>
              </a:ext>
            </a:extLst>
          </p:cNvPr>
          <p:cNvSpPr txBox="1"/>
          <p:nvPr/>
        </p:nvSpPr>
        <p:spPr>
          <a:xfrm>
            <a:off x="6929945" y="3408559"/>
            <a:ext cx="4695998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These should be the drop down boxes of ‘support and expertise’ and ‘areas of interest’.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F337F7-1332-FE67-433B-7E1544135E7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6096000" y="3875314"/>
            <a:ext cx="833945" cy="41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604240F-0655-7E6F-4417-36A5872CBD7A}"/>
              </a:ext>
            </a:extLst>
          </p:cNvPr>
          <p:cNvSpPr txBox="1"/>
          <p:nvPr/>
        </p:nvSpPr>
        <p:spPr>
          <a:xfrm>
            <a:off x="2630088" y="4635320"/>
            <a:ext cx="3346170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Remove location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1A6108-4677-7395-5C51-D24ED49CB798}"/>
              </a:ext>
            </a:extLst>
          </p:cNvPr>
          <p:cNvSpPr txBox="1"/>
          <p:nvPr/>
        </p:nvSpPr>
        <p:spPr>
          <a:xfrm>
            <a:off x="2630087" y="5204003"/>
            <a:ext cx="5930453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Change to ‘How long should this take’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D76A0F-588D-0FFE-A5A8-D01206FE0A46}"/>
              </a:ext>
            </a:extLst>
          </p:cNvPr>
          <p:cNvSpPr txBox="1"/>
          <p:nvPr/>
        </p:nvSpPr>
        <p:spPr>
          <a:xfrm>
            <a:off x="2630086" y="5772686"/>
            <a:ext cx="5930453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Clarify/Change to ‘Start Date’</a:t>
            </a:r>
          </a:p>
        </p:txBody>
      </p:sp>
    </p:spTree>
    <p:extLst>
      <p:ext uri="{BB962C8B-B14F-4D97-AF65-F5344CB8AC3E}">
        <p14:creationId xmlns:p14="http://schemas.microsoft.com/office/powerpoint/2010/main" val="2579936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8D9A6-921B-7B54-BED6-54F4A6361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77" y="763072"/>
            <a:ext cx="6296904" cy="41344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7951EF-5D28-D758-F55C-3D5E2E5EF819}"/>
              </a:ext>
            </a:extLst>
          </p:cNvPr>
          <p:cNvSpPr txBox="1"/>
          <p:nvPr/>
        </p:nvSpPr>
        <p:spPr>
          <a:xfrm>
            <a:off x="5286202" y="2430175"/>
            <a:ext cx="3346170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Remove languages and funded boxes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514BF-D22F-A685-BDE6-3388074657CB}"/>
              </a:ext>
            </a:extLst>
          </p:cNvPr>
          <p:cNvSpPr txBox="1"/>
          <p:nvPr/>
        </p:nvSpPr>
        <p:spPr>
          <a:xfrm>
            <a:off x="2862941" y="5115498"/>
            <a:ext cx="7750629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It’s not clear which fields are mandatory and which ones aren’t, and I think this is effecting the ability to create a task.</a:t>
            </a:r>
          </a:p>
          <a:p>
            <a:endParaRPr lang="en-GB" sz="2000" dirty="0"/>
          </a:p>
          <a:p>
            <a:r>
              <a:rPr lang="en-GB" sz="2000" dirty="0"/>
              <a:t>Can an error message come up if a required field hasn’t been filled in</a:t>
            </a:r>
          </a:p>
        </p:txBody>
      </p:sp>
    </p:spTree>
    <p:extLst>
      <p:ext uri="{BB962C8B-B14F-4D97-AF65-F5344CB8AC3E}">
        <p14:creationId xmlns:p14="http://schemas.microsoft.com/office/powerpoint/2010/main" val="2114854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AAF09B-4F17-FD3C-1974-37ECDA056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" y="440236"/>
            <a:ext cx="10580914" cy="49231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7806EB-97EB-DF49-A7FC-BC6B9B118CDB}"/>
              </a:ext>
            </a:extLst>
          </p:cNvPr>
          <p:cNvSpPr txBox="1"/>
          <p:nvPr/>
        </p:nvSpPr>
        <p:spPr>
          <a:xfrm>
            <a:off x="6270171" y="335463"/>
            <a:ext cx="3722915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Change to… ‘’Solution Provider’</a:t>
            </a:r>
          </a:p>
        </p:txBody>
      </p:sp>
    </p:spTree>
    <p:extLst>
      <p:ext uri="{BB962C8B-B14F-4D97-AF65-F5344CB8AC3E}">
        <p14:creationId xmlns:p14="http://schemas.microsoft.com/office/powerpoint/2010/main" val="2705836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606</Words>
  <Application>Microsoft Office PowerPoint</Application>
  <PresentationFormat>Widescreen</PresentationFormat>
  <Paragraphs>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Health and Social 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Adeyemi, Ade</dc:creator>
  <cp:lastModifiedBy>Adeyemi, Ade</cp:lastModifiedBy>
  <cp:revision>2</cp:revision>
  <dcterms:created xsi:type="dcterms:W3CDTF">2025-09-30T19:36:13Z</dcterms:created>
  <dcterms:modified xsi:type="dcterms:W3CDTF">2025-10-01T13:15:43Z</dcterms:modified>
</cp:coreProperties>
</file>